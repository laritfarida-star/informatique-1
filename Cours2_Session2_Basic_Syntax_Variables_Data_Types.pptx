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oundations" id="{5DC50240-CB2E-2E40-5816-55F146E6A8C7}">
          <p14:sldIdLst>
            <p14:sldId id="256"/>
            <p14:sldId id="257"/>
            <p14:sldId id="258"/>
          </p14:sldIdLst>
        </p14:section>
        <p14:section name="Variables and constants" id="{27D6D59E-9374-4A1D-D95A-6BF9B039C27E}">
          <p14:sldIdLst>
            <p14:sldId id="259"/>
            <p14:sldId id="260"/>
            <p14:sldId id="261"/>
            <p14:sldId id="262"/>
          </p14:sldIdLst>
        </p14:section>
        <p14:section name="Fundamental data types" id="{2458CFDE-4E7E-2548-66EE-5841EFE71697}">
          <p14:sldIdLst>
            <p14:sldId id="263"/>
            <p14:sldId id="264"/>
            <p14:sldId id="265"/>
            <p14:sldId id="266"/>
            <p14:sldId id="267"/>
          </p14:sldIdLst>
        </p14:section>
        <p14:section name="Operators" id="{5A0DEEB9-4B12-F133-72B9-46AC2B61DFC9}">
          <p14:sldIdLst>
            <p14:sldId id="268"/>
            <p14:sldId id="269"/>
            <p14:sldId id="270"/>
            <p14:sldId id="271"/>
          </p14:sldIdLst>
        </p14:section>
        <p14:section name="Input and output" id="{829F2258-73E0-5298-5C88-03C6C82E1B8C}">
          <p14:sldIdLst>
            <p14:sldId id="272"/>
            <p14:sldId id="273"/>
            <p14:sldId id="274"/>
          </p14:sldIdLst>
        </p14:section>
        <p14:section name="Assignment, errors and wrap-up" id="{55272430-D200-F91C-BE6C-6D20950A7150}">
          <p14:sldIdLst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0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9633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2 of Cours 2. Last time: print(), calculations, comments. Today we give Python a memory: variables, data types and operators.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a 2-minute recall of Session 1 (print, calculations, comments), then present today's five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program, then go through the four rules. Stress case sensitivity and that indentation is never decorative in Python. The program computes the kinetic energy Ec = 1/2 m v^2.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variable is a name attached to a value stored in the computer memory. It lets us reuse the value and write readable formulas.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= sign is not the mathematical equality. Python first computes the right-hand side, then stores the result under the name on the left. T = T + 5 is perfectly valid in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 names use letters, digits and underscores, and cannot start with a digit. Reserved words like class cannot be used. Choose meaningful names: density is better than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has no real constants: nothing prevents us from changing a value. By convention, a constant is written in capital letters and treated as fixed. The values are the usual approximate values of g, R and 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value has a type. Four types are enough for now: int, float, str, bool. The function type() tells us the type of a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 has no decimal point; float has one. In Python the decimal separator is a dot. The / operator always gives a float, even for 6 / 3. Scientific notation: 6.022e23 means 6.022 x 10^23.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 is written between quotes, single or double. + joins two strings; * repeats a string. The text "23" is not the number 23. The shell displays strings with quotes.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boolean has only two values: True and False, with a capital first letter. They are the result of comparisons and the basis of decisions, which we will use in the next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int(3.9) removes the decimal part, it does not round. Conversions matter because input() always returns text, as we will see.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arithmetic operators. // is floor division (the whole part of the division) and % gives the remainder. Examples use 7 and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follows the usual mathematical priority. Parentheses first, then power, then multiplication and division, then addition and subtraction; at the same level, from left to right. The last example is Ec = 1/2 m v^2 with m = 2 kg and v = 3 m/s.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Comparisons compare two values and give a boolean. Warn about the classic mistake: = stores a value, == compares two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is True only if both are True; or is True if at least one is True; not reverses a boolean. Example: water is liquid between 0 and 100 degrees Celsius at 1 atm.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Commas let print() mix text and numbers. The + operator joins text with text only: mixing text and number with + causes a TypeError.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input() displays a message, waits for the user to type, and always returns text. Convert it with float() or int() before calculating.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Input, process, output. Run it with 54 and 20: the output is 2.7. This program reuses everything seen today: variables, types, conversions, operators and print().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expression produces a value. An assignment stores that value under a name. An update uses the old value to compute the new one; T += 5 is a shorthand for T = T + 5.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frequent errors. NameError: typo in a name. TypeError: mixing text and number with +. Text arithmetic: no error but a wrong result. Assignment in the wrong direction: SyntaxError.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8 minutes. Solution: T_C = float(input("Temperature (C): ")); T_K = T_C + 273.15; print("T =", T_K, "K"); print("Liquid water:", (T_C &gt; 0) and (T_C &lt; 100)). With 25 it prints T = 298.15 K and Liquid water: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five blocks. Transition: booleans are the key to the next chapter, conditional structures, where the program takes decisions with if /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235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731520"/>
            <a:ext cx="78638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56032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Informatique 1 — L1 Sciences de la Matière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1235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73152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600" b="1" dirty="0">
                <a:solidFill>
                  <a:schemeClr val="bg1"/>
                </a:solidFill>
              </a:rPr>
              <a:t>Basic Syntax, Variables and Data Types</a:t>
            </a: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5603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Informatique 1 — L1 Sciences de la Matière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Cours 2 — Session 2  ·  90 minutes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4937760" cy="109728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365760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T = 25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T + 273.15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298.15</a:t>
            </a:r>
            <a:endParaRPr lang="en-US" sz="18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B9725AF-FD93-3DBD-58C9-AE4FDB585CBC}"/>
              </a:ext>
            </a:extLst>
          </p:cNvPr>
          <p:cNvSpPr/>
          <p:nvPr/>
        </p:nvSpPr>
        <p:spPr>
          <a:xfrm>
            <a:off x="6736080" y="4411980"/>
            <a:ext cx="2229244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solidFill>
              <a:srgbClr val="2F7D5B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1E2522"/>
                </a:solidFill>
                <a:effectLst/>
                <a:uLnTx/>
                <a:uFillTx/>
              </a:rPr>
              <a:t>DR. FARIDA LARIT</a:t>
            </a:r>
            <a:endParaRPr kumimoji="0" lang="en-US" sz="1500" b="0" i="0" u="none" strike="noStrike" kern="0" cap="none" spc="0" normalizeH="0" baseline="0" noProof="0" dirty="0">
              <a:ln>
                <a:noFill/>
              </a:ln>
              <a:solidFill>
                <a:srgbClr val="1E2522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Learning objectives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804672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85800" y="122529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225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1887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Follow the basic syntax rules of Python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804672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181965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1819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17830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Create and use variables and constants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548640" y="2377440"/>
            <a:ext cx="804672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5800" y="241401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2414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325880" y="23774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Recognise the four fundamental data types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548640" y="2971800"/>
            <a:ext cx="804672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5800" y="300837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3008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325880" y="297180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Use arithmetic, comparison and logical operators</a:t>
            </a:r>
            <a:endParaRPr lang="en-US" sz="1900" dirty="0"/>
          </a:p>
        </p:txBody>
      </p:sp>
      <p:sp>
        <p:nvSpPr>
          <p:cNvPr id="20" name="Shape 17"/>
          <p:cNvSpPr/>
          <p:nvPr/>
        </p:nvSpPr>
        <p:spPr>
          <a:xfrm>
            <a:off x="548640" y="3566160"/>
            <a:ext cx="804672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85800" y="360273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5800" y="3602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356616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Read data with input() and display it with print()</a:t>
            </a:r>
            <a:endParaRPr lang="en-US" sz="19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Last session: print(), calculations, comments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Basic syntax rules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4572000" cy="201168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28016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Kinetic energy of a particle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2          </a:t>
            </a: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kg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3          </a:t>
            </a: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m/s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 = 0.5 * m * v ** 2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print(Ec)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493008"/>
            <a:ext cx="1828800" cy="228600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C000"/>
                </a:solidFill>
              </a:rPr>
              <a:t>OUTPUT</a:t>
            </a:r>
            <a:endParaRPr lang="en-US" sz="1400" dirty="0">
              <a:solidFill>
                <a:srgbClr val="FFC000"/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548640" y="3749040"/>
            <a:ext cx="4572000" cy="640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7490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9.0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40680" y="1353312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5216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One instruction per line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5852160" y="16276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Python reads top to bottom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40680" y="2130552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852160" y="2057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Case-sensitive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5852160" y="24048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 and M are different names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40680" y="2907792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85216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Comments start with #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5852160" y="31821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ignored by Python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40680" y="3685032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85216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No random indentation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5852160" y="39593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spaces at the start of a line have a meaning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Variables: names for values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42062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4173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A variable is a name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874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It refers to a value stored in the computer's memory.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697480"/>
            <a:ext cx="4206240" cy="118872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69748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mass = 54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 = 20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density = mass / volume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069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print(density) displays 2.7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212080" y="1234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COMPUTER MEMORY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212080" y="1600200"/>
            <a:ext cx="338328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40680" y="16002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mass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7040880" y="160020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5212080" y="2468880"/>
            <a:ext cx="338328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40680" y="24688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7040880" y="246888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5212080" y="3337560"/>
            <a:ext cx="338328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40680" y="33375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density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7040880" y="333756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2.7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Assignment: = means store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4023360" cy="128016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28016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20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T + 5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print(T)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529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OUTPUT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3108960"/>
            <a:ext cx="4023360" cy="731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1089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93776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9377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577840" y="1280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Python computes the right side: 20 + 5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937760" y="22402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93776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577840" y="22402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It stores the result in the name T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4937760" y="3200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93776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577840" y="3200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The old value of T is replaced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4937760" y="4114800"/>
            <a:ext cx="3657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74920" y="41148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In Python, = is not “equals”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Naming variables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393192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280160"/>
            <a:ext cx="393192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2801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Valid names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05740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density</a:t>
            </a:r>
            <a:endParaRPr lang="en-US" sz="18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mass_1</a:t>
            </a:r>
            <a:endParaRPr lang="en-US" sz="18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temp_C</a:t>
            </a:r>
            <a:endParaRPr lang="en-US" sz="18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_x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663440" y="1280160"/>
            <a:ext cx="393192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63440" y="1280160"/>
            <a:ext cx="393192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92040" y="12801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Invalid names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4892040" y="205740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2mass</a:t>
            </a:r>
            <a:r>
              <a:rPr lang="en-US" sz="1400" dirty="0">
                <a:solidFill>
                  <a:schemeClr val="tx1"/>
                </a:solidFill>
              </a:rPr>
              <a:t>   starts with a digit</a:t>
            </a:r>
            <a:endParaRPr lang="en-US" sz="1800" dirty="0"/>
          </a:p>
          <a:p>
            <a:pPr marL="0" indent="0">
              <a:buNone/>
            </a:pPr>
            <a:r>
              <a:rPr lang="en-US" sz="20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my-var</a:t>
            </a:r>
            <a:r>
              <a:rPr lang="en-US" sz="1400" dirty="0">
                <a:solidFill>
                  <a:schemeClr val="tx1"/>
                </a:solidFill>
              </a:rPr>
              <a:t>   hyphen not allowed</a:t>
            </a:r>
            <a:endParaRPr lang="en-US" sz="1800" dirty="0"/>
          </a:p>
          <a:p>
            <a:pPr marL="0" indent="0">
              <a:buNone/>
            </a:pPr>
            <a:r>
              <a:rPr lang="en-US" sz="20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400" dirty="0">
                <a:solidFill>
                  <a:schemeClr val="tx1"/>
                </a:solidFill>
              </a:rPr>
              <a:t>   reserved word</a:t>
            </a:r>
            <a:endParaRPr lang="en-US" sz="1800" dirty="0"/>
          </a:p>
          <a:p>
            <a:pPr marL="0" indent="0">
              <a:buNone/>
            </a:pPr>
            <a:r>
              <a:rPr lang="en-US" sz="20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mass 1</a:t>
            </a:r>
            <a:r>
              <a:rPr lang="en-US" sz="1400" dirty="0">
                <a:solidFill>
                  <a:schemeClr val="tx1"/>
                </a:solidFill>
              </a:rPr>
              <a:t>   space not allowed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mass and Mass are two different names.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Constants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4572000" cy="164592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28016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9.81         </a:t>
            </a: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m/s2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8.314        </a:t>
            </a: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J/(mol K)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 = 6.022e23    </a:t>
            </a: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1/mol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004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Physical constants stored once, used everywhere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0" y="12801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126480" y="1280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Convention: CAPITALS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126480" y="16459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tells the reader the value is fixed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0" y="233172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126480" y="2331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Not enforced by Python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6126480" y="2697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 error if you change it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0" y="33832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12648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Treat it as fixed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6126480" y="37490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it is a rule of good practice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Fundamental data types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1874520" cy="21031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3716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9659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7432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5"/>
                </a:solidFill>
              </a:rPr>
              <a:t>whole number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606040" y="1280160"/>
            <a:ext cx="1874520" cy="21031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606040" y="13716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2606040" y="19659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3.14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2606040" y="27432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5"/>
                </a:solidFill>
              </a:rPr>
              <a:t>decimal number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663440" y="1280160"/>
            <a:ext cx="1874520" cy="21031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63440" y="13716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4663440" y="19659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"NaCl"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4663440" y="27432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5"/>
                </a:solidFill>
              </a:rPr>
              <a:t>text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720840" y="1280160"/>
            <a:ext cx="1874520" cy="21031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720840" y="13716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6720840" y="19659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6720840" y="27432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5"/>
                </a:solidFill>
              </a:rPr>
              <a:t>True or False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48640" y="3657600"/>
            <a:ext cx="4023360" cy="82296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36576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type(2.7)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&lt;class 'float'&gt;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4846320" y="36576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type() tells us the type of a value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Integers and floats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4206240" cy="237744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28016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7 / 2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3.5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6 / 3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6.022e23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6.022e+23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512064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120640" y="16276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no decimal point: 12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120640" y="2057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float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120640" y="24048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decimal point (a dot): 3.14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120640" y="2834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gives a float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120640" y="31821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6 / 3 → 2.0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120640" y="3611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6.022e23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5120640" y="39593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means 6.022 × 10²³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Strings: text in Python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4206240" cy="301752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2801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"Na" + "Cl"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'NaCl'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"ab" * 3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'ababab'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"2" + "3"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'23'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2 + 3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120640" y="137160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577840" y="1280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Text goes between quotes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120640" y="214884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577840" y="2057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+ joins two texts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120640" y="292608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577840" y="2834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* repeats a text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120640" y="370332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577840" y="36118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“23” is text — 23 is a number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Booleans: True or False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4206240" cy="201168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28016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5 &gt; 3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5 == 4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type(True)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&lt;class 'bool'&gt;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5120640" y="12801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Two values only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760720" y="16459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True and False — capital letter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120640" y="22860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1206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760720" y="2286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Result of a comparison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5760720" y="26517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5 &gt; 3 is True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120640" y="329184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1206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760720" y="3291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Basis of decisions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760720" y="3657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next chapter: if / else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Checking and converting types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4206240" cy="301752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2801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type(54)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&lt;class 'int'&gt;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int(3.9)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float("2.5")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2.5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str(7)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'7'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120640" y="1280160"/>
            <a:ext cx="34747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49240" y="1417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Converting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349240" y="18745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int()  float()  str()  change the type of a value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120640" y="2880360"/>
            <a:ext cx="34747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349240" y="3017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Careful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5349240" y="34747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int(3.9) gives 3: the decimal part is removed, not rounded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Arithmetic operators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34440"/>
            <a:ext cx="8046720" cy="40233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252728"/>
            <a:ext cx="731520" cy="3657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527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123444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addition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123444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+ 2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675120" y="12344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9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1709928"/>
            <a:ext cx="8046720" cy="40233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1728216"/>
            <a:ext cx="731520" cy="3657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172821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645920" y="170992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subtraction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170992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7 - 2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675120" y="170992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5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2185416"/>
            <a:ext cx="8046720" cy="40233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0080" y="2203704"/>
            <a:ext cx="731520" cy="3657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220370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645920" y="218541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multiplication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0" y="218541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* 2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6675120" y="218541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14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548640" y="2660904"/>
            <a:ext cx="8046720" cy="40233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0080" y="2679192"/>
            <a:ext cx="731520" cy="3657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267919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1645920" y="266090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division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0" y="266090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2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6675120" y="266090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3.5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548640" y="3136392"/>
            <a:ext cx="8046720" cy="40233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40080" y="3154680"/>
            <a:ext cx="731520" cy="3657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40080" y="31546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1645920" y="313639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floor division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4572000" y="313639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// 2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6675120" y="313639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3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548640" y="3611880"/>
            <a:ext cx="8046720" cy="40233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40080" y="3630168"/>
            <a:ext cx="731520" cy="3657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40080" y="36301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1645920" y="361188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remainder</a:t>
            </a:r>
            <a:endParaRPr lang="en-US" sz="1800" dirty="0"/>
          </a:p>
        </p:txBody>
      </p:sp>
      <p:sp>
        <p:nvSpPr>
          <p:cNvPr id="38" name="Text 35"/>
          <p:cNvSpPr txBox="1"/>
          <p:nvPr/>
        </p:nvSpPr>
        <p:spPr>
          <a:xfrm>
            <a:off x="4572000" y="361188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7 % 2</a:t>
            </a:r>
            <a:endParaRPr lang="en-US" sz="1800" dirty="0"/>
          </a:p>
        </p:txBody>
      </p:sp>
      <p:sp>
        <p:nvSpPr>
          <p:cNvPr id="39" name="Text 36"/>
          <p:cNvSpPr txBox="1"/>
          <p:nvPr/>
        </p:nvSpPr>
        <p:spPr>
          <a:xfrm>
            <a:off x="6675120" y="361188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1</a:t>
            </a:r>
            <a:endParaRPr lang="en-US" sz="1800" dirty="0"/>
          </a:p>
        </p:txBody>
      </p:sp>
      <p:sp>
        <p:nvSpPr>
          <p:cNvPr id="40" name="Shape 37"/>
          <p:cNvSpPr/>
          <p:nvPr/>
        </p:nvSpPr>
        <p:spPr>
          <a:xfrm>
            <a:off x="548640" y="4087368"/>
            <a:ext cx="8046720" cy="40233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40080" y="4105656"/>
            <a:ext cx="731520" cy="3657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40080" y="410565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1645920" y="408736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power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0" y="408736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** 2</a:t>
            </a:r>
            <a:endParaRPr lang="en-US" sz="1800" dirty="0"/>
          </a:p>
        </p:txBody>
      </p:sp>
      <p:sp>
        <p:nvSpPr>
          <p:cNvPr id="45" name="Text 42"/>
          <p:cNvSpPr txBox="1"/>
          <p:nvPr/>
        </p:nvSpPr>
        <p:spPr>
          <a:xfrm>
            <a:off x="6675120" y="408736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49</a:t>
            </a:r>
            <a:endParaRPr lang="en-US" sz="18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Priority of operations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384048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2801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1   Parentheses ( )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3840480" cy="685800"/>
          </a:xfrm>
          <a:prstGeom prst="roundRect">
            <a:avLst>
              <a:gd name="adj" fmla="val 10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1031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2   Power **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926080"/>
            <a:ext cx="384048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926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*   /   //   %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48640" y="3749040"/>
            <a:ext cx="3840480" cy="685800"/>
          </a:xfrm>
          <a:prstGeom prst="roundRect">
            <a:avLst>
              <a:gd name="adj" fmla="val 106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37490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 +   −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526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Same level: left to right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663440" y="1280160"/>
            <a:ext cx="3931920" cy="219456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92040" y="128016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2 + 3 * 4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(2 + 3) * 4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0.5 * 2 * 3 ** 2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9.0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663440" y="36576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Last line: Ec = ½ m v² with m = 2 kg and v = 3 m/s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Comparison operators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3840480" cy="274320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28016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25 == 25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25 != 30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25 &lt; 30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120 &gt; 100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3 &lt;= 2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663440" y="1280160"/>
            <a:ext cx="822960" cy="384048"/>
          </a:xfrm>
          <a:prstGeom prst="roundRect">
            <a:avLst>
              <a:gd name="adj" fmla="val 1904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663440" y="12801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669280" y="12801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equal to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663440" y="1737360"/>
            <a:ext cx="822960" cy="384048"/>
          </a:xfrm>
          <a:prstGeom prst="roundRect">
            <a:avLst>
              <a:gd name="adj" fmla="val 1904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63440" y="17373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669280" y="17373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different from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663440" y="2194560"/>
            <a:ext cx="822960" cy="384048"/>
          </a:xfrm>
          <a:prstGeom prst="roundRect">
            <a:avLst>
              <a:gd name="adj" fmla="val 1904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63440" y="21945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0" y="21945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less than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4663440" y="2651760"/>
            <a:ext cx="822960" cy="384048"/>
          </a:xfrm>
          <a:prstGeom prst="roundRect">
            <a:avLst>
              <a:gd name="adj" fmla="val 1904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663440" y="26517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669280" y="26517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greater than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4663440" y="3108960"/>
            <a:ext cx="822960" cy="384048"/>
          </a:xfrm>
          <a:prstGeom prst="roundRect">
            <a:avLst>
              <a:gd name="adj" fmla="val 1904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663440" y="31089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669280" y="31089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less than or equal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4663440" y="3566160"/>
            <a:ext cx="822960" cy="384048"/>
          </a:xfrm>
          <a:prstGeom prst="roundRect">
            <a:avLst>
              <a:gd name="adj" fmla="val 1904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663440" y="35661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0" y="35661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greater than or equal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548640" y="4160520"/>
            <a:ext cx="804672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77240" y="41605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=  stores a value        ==  compares two values</a:t>
            </a:r>
            <a:endParaRPr lang="en-US" sz="18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Logical operators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777240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2801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371600" y="1280160"/>
            <a:ext cx="777240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371600" y="12801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194560" y="1280160"/>
            <a:ext cx="1325880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194560" y="12801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and B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566160" y="1280160"/>
            <a:ext cx="1234440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66160" y="12801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or B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1810512"/>
            <a:ext cx="777240" cy="457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181051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371600" y="1810512"/>
            <a:ext cx="777240" cy="457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371600" y="181051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194560" y="1810512"/>
            <a:ext cx="1325880" cy="457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194560" y="181051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566160" y="1810512"/>
            <a:ext cx="1234440" cy="457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566160" y="181051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2340864"/>
            <a:ext cx="777240" cy="457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2340864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1371600" y="2340864"/>
            <a:ext cx="777240" cy="457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371600" y="2340864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2194560" y="2340864"/>
            <a:ext cx="1325880" cy="457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194560" y="234086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3566160" y="2340864"/>
            <a:ext cx="1234440" cy="457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566160" y="234086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548640" y="2871216"/>
            <a:ext cx="777240" cy="457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48640" y="287121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1371600" y="2871216"/>
            <a:ext cx="777240" cy="457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371600" y="287121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2194560" y="2871216"/>
            <a:ext cx="1325880" cy="457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194560" y="287121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3566160" y="2871216"/>
            <a:ext cx="1234440" cy="457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3566160" y="287121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548640" y="3401568"/>
            <a:ext cx="777240" cy="457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48640" y="340156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1371600" y="3401568"/>
            <a:ext cx="777240" cy="457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1371600" y="340156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2194560" y="3401568"/>
            <a:ext cx="1325880" cy="457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2194560" y="340156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3566160" y="3401568"/>
            <a:ext cx="1234440" cy="457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3566160" y="340156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548640" y="40233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True → False        not False → True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5120640" y="1280160"/>
            <a:ext cx="3474720" cy="137160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349240" y="12801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25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print((T &gt; 0) and (T &lt; 100))</a:t>
            </a:r>
            <a:endParaRPr lang="en-US" sz="1400" dirty="0"/>
          </a:p>
        </p:txBody>
      </p:sp>
      <p:sp>
        <p:nvSpPr>
          <p:cNvPr id="47" name="Text 44"/>
          <p:cNvSpPr txBox="1"/>
          <p:nvPr/>
        </p:nvSpPr>
        <p:spPr>
          <a:xfrm>
            <a:off x="5120640" y="2761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OUTPUT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5120640" y="3017520"/>
            <a:ext cx="3474720" cy="640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5349240" y="3017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600" dirty="0"/>
          </a:p>
        </p:txBody>
      </p:sp>
      <p:sp>
        <p:nvSpPr>
          <p:cNvPr id="50" name="Text 47"/>
          <p:cNvSpPr txBox="1"/>
          <p:nvPr/>
        </p:nvSpPr>
        <p:spPr>
          <a:xfrm>
            <a:off x="5120640" y="37947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Water is liquid between 0 and 100 °C (1 atm). For T = 120 the result is False.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Displaying results with print()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4754880" cy="118872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28016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298.15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print("T =", T, "K")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761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OUTPUT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3017520"/>
            <a:ext cx="4754880" cy="731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0175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298.15 K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577840" y="1280160"/>
            <a:ext cx="301752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06440" y="1417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Tip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5806440" y="1874520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Commas mix text and numbers in print(). The + sign only joins text with text.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Reading data with input()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137160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2801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User types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929384" y="1737360"/>
            <a:ext cx="283464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2217420" y="1280160"/>
            <a:ext cx="137160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263140" y="12801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input()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reads text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598164" y="1737360"/>
            <a:ext cx="283464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886200" y="1280160"/>
            <a:ext cx="137160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931920" y="12801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Text (str)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"54"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266944" y="1737360"/>
            <a:ext cx="283464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5554980" y="1280160"/>
            <a:ext cx="137160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600700" y="12801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float()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converts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935724" y="1737360"/>
            <a:ext cx="283464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7223760" y="1280160"/>
            <a:ext cx="137160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269480" y="12801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Number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54.0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548640" y="2606040"/>
            <a:ext cx="4937760" cy="73152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260604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mass = float(input("Mass (g): "))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34930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OUTPUT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3749040"/>
            <a:ext cx="4937760" cy="640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37490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Mass (g): 54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760720" y="2606040"/>
            <a:ext cx="283464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9893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Remember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5989320" y="320040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input() always gives text. Convert it before calculating.</a:t>
            </a:r>
            <a:endParaRPr lang="en-US" sz="16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A complete interactive program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5212080" cy="201168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28016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Density calculator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mass = float(input("Mass (g): "))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 = float(input("Volume (cm3): "))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density = mass / volume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print("Density =", density, "g/cm3")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4015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OUTPUT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3657600"/>
            <a:ext cx="5212080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6576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Mass (g): 54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 (cm3): 20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Density = 2.7 g/cm3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26480" y="1280160"/>
            <a:ext cx="2468880" cy="777240"/>
          </a:xfrm>
          <a:prstGeom prst="roundRect">
            <a:avLst>
              <a:gd name="adj" fmla="val 941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126480" y="12801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INPUT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input()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360920" y="2075688"/>
            <a:ext cx="0" cy="283464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6126480" y="2377440"/>
            <a:ext cx="246888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126480" y="23774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PROCESS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calculation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360920" y="3172968"/>
            <a:ext cx="0" cy="283464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126480" y="3474720"/>
            <a:ext cx="2468880" cy="777240"/>
          </a:xfrm>
          <a:prstGeom prst="roundRect">
            <a:avLst>
              <a:gd name="adj" fmla="val 941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126480" y="34747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OUTPUT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Assignment and expressions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42062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3533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Expression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737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produces a value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12801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* 3 + 1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331720"/>
            <a:ext cx="42062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4048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Assignment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7889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stores a value in a name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2743200" y="23317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2 * 3 + 1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3383280"/>
            <a:ext cx="42062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34564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Update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3840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new value from the old one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743200" y="33832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+= 5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120640" y="1280160"/>
            <a:ext cx="3474720" cy="164592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349240" y="128016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20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T + 5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+= 5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print(T)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5120640" y="31272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OUTPUT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120640" y="3383280"/>
            <a:ext cx="3474720" cy="640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349240" y="3383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Common beginner errors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38404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Typo in a name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print(mas)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011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NameError: name 'mas' is not defined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188720"/>
            <a:ext cx="38404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93776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Text + number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493776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print("Age: " + 5)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937760" y="2011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TypeError: can only concatenate str (not "int") to str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2651760"/>
            <a:ext cx="38404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2743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Forgetting conversion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"20" + "30"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3474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gives '2030': text, not 20 + 30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754880" y="2651760"/>
            <a:ext cx="38404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937760" y="2743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Wrong direction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493776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= x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4937760" y="3474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SyntaxError: cannot assign to literal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Read the last line of the message: it names the error type.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Mini student challenge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475488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41732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Write a program that asks for a temperature in °C, then displays: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286000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the temperature in kelvin  (T = T°C + 273.15)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whether water is liquid at this temperature (between 0 and 100 °C)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8404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Use: input(), float(), +, and, print()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57784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OUTPUT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1554480"/>
            <a:ext cx="3017520" cy="1188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06440" y="15544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 (C): 25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298.15 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Liquid water: True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577840" y="3017520"/>
            <a:ext cx="3017520" cy="137160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69280" y="30175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bg1"/>
                </a:solidFill>
              </a:rPr>
              <a:t>8</a:t>
            </a:r>
            <a:endParaRPr lang="en-US" sz="1800" dirty="0"/>
          </a:p>
          <a:p>
            <a:pPr marL="0" indent="0" algn="ctr">
              <a:buNone/>
            </a:pPr>
            <a:r>
              <a:rPr lang="en-US" sz="1500" dirty="0">
                <a:solidFill>
                  <a:schemeClr val="bg1"/>
                </a:solidFill>
              </a:rPr>
              <a:t>minutes — work alone, then compare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</a:rPr>
              <a:t>Summary and what comes next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12801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Variables store values; constants are CAPITALS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920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Four types: int, float, str, bool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560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Operators: arithmetic, comparison, logical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3200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input() reads text; print() displays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188720" y="38404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= stores, == compares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5577840" y="1280160"/>
            <a:ext cx="3017520" cy="3200400"/>
          </a:xfrm>
          <a:prstGeom prst="roundRect">
            <a:avLst>
              <a:gd name="adj" fmla="val 2424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0644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NEXT CHAPTER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806440" y="17373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Conditional Structures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5806440" y="283464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How does a program decide?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if / else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True and False in action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iences Matiere">
  <a:themeElements>
    <a:clrScheme name="Sciences Matiere">
      <a:dk1>
        <a:srgbClr val="1B2A3A"/>
      </a:dk1>
      <a:lt1>
        <a:srgbClr val="FFFFFF"/>
      </a:lt1>
      <a:dk2>
        <a:srgbClr val="12355B"/>
      </a:dk2>
      <a:lt2>
        <a:srgbClr val="EEF3F7"/>
      </a:lt2>
      <a:accent1>
        <a:srgbClr val="1B998B"/>
      </a:accent1>
      <a:accent2>
        <a:srgbClr val="D9731A"/>
      </a:accent2>
      <a:accent3>
        <a:srgbClr val="3A6EA5"/>
      </a:accent3>
      <a:accent4>
        <a:srgbClr val="B83A3A"/>
      </a:accent4>
      <a:accent5>
        <a:srgbClr val="5C6B7A"/>
      </a:accent5>
      <a:accent6>
        <a:srgbClr val="0F1B2D"/>
      </a:accent6>
      <a:hlink>
        <a:srgbClr val="3A6EA5"/>
      </a:hlink>
      <a:folHlink>
        <a:srgbClr val="5C6B7A"/>
      </a:folHlink>
    </a:clrScheme>
    <a:fontScheme name="Sciences Matier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2196</Words>
  <Application>Microsoft Office PowerPoint</Application>
  <PresentationFormat>On-screen Show (16:9)</PresentationFormat>
  <Paragraphs>418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Courier New</vt:lpstr>
      <vt:lpstr>Sciences Matiere</vt:lpstr>
      <vt:lpstr>Basic Syntax, Variables and Data Types</vt:lpstr>
      <vt:lpstr>Learning objectives</vt:lpstr>
      <vt:lpstr>Basic syntax rules</vt:lpstr>
      <vt:lpstr>Variables: names for values</vt:lpstr>
      <vt:lpstr>Assignment: = means store</vt:lpstr>
      <vt:lpstr>Naming variables</vt:lpstr>
      <vt:lpstr>Constants</vt:lpstr>
      <vt:lpstr>Fundamental data types</vt:lpstr>
      <vt:lpstr>Integers and floats</vt:lpstr>
      <vt:lpstr>Strings: text in Python</vt:lpstr>
      <vt:lpstr>Booleans: True or False</vt:lpstr>
      <vt:lpstr>Checking and converting types</vt:lpstr>
      <vt:lpstr>Arithmetic operators</vt:lpstr>
      <vt:lpstr>Priority of operations</vt:lpstr>
      <vt:lpstr>Comparison operators</vt:lpstr>
      <vt:lpstr>Logical operators</vt:lpstr>
      <vt:lpstr>Displaying results with print()</vt:lpstr>
      <vt:lpstr>Reading data with input()</vt:lpstr>
      <vt:lpstr>A complete interactive program</vt:lpstr>
      <vt:lpstr>Assignment and expressions</vt:lpstr>
      <vt:lpstr>Common beginner errors</vt:lpstr>
      <vt:lpstr>Mini student challenge</vt:lpstr>
      <vt:lpstr>Summary and what comes next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Syntax, Variables and Data Types</dc:title>
  <dc:subject>PptxGenJS Presentation</dc:subject>
  <dc:creator>PptxGenJS</dc:creator>
  <cp:lastModifiedBy>FARIDA LARIT</cp:lastModifiedBy>
  <cp:revision>2</cp:revision>
  <dcterms:created xsi:type="dcterms:W3CDTF">2026-10-06T10:27:27Z</dcterms:created>
  <dcterms:modified xsi:type="dcterms:W3CDTF">2026-10-08T10:07:21Z</dcterms:modified>
</cp:coreProperties>
</file>