
<file path=[Content_Types].xml><?xml version="1.0" encoding="utf-8"?>
<Types xmlns="http://schemas.openxmlformats.org/package/2006/content-types">
  <Default Extension="jpeg" ContentType="image/jpeg"/>
  <Default Extension="jpg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media/image4.jpg" ContentType="image/jpeg"/>
  <Override PartName="/ppt/media/image5.jpg" ContentType="image/jpeg"/>
  <Override PartName="/ppt/media/image7.jpg" ContentType="image/jpeg"/>
  <Override PartName="/ppt/media/image8.jpg" ContentType="image/jpeg"/>
  <Override PartName="/ppt/media/image9.jpg" ContentType="image/jpeg"/>
  <Override PartName="/ppt/media/image12.jpg" ContentType="image/jpeg"/>
  <Override PartName="/ppt/media/image13.jpg" ContentType="image/jpe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image15.jpg" ContentType="image/jpeg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50" r:id="rId2"/>
  </p:sldMasterIdLst>
  <p:notesMasterIdLst>
    <p:notesMasterId r:id="rId46"/>
  </p:notesMasterIdLst>
  <p:sldIdLst>
    <p:sldId id="256" r:id="rId3"/>
    <p:sldId id="293" r:id="rId4"/>
    <p:sldId id="292" r:id="rId5"/>
    <p:sldId id="258" r:id="rId6"/>
    <p:sldId id="257" r:id="rId7"/>
    <p:sldId id="295" r:id="rId8"/>
    <p:sldId id="296" r:id="rId9"/>
    <p:sldId id="259" r:id="rId10"/>
    <p:sldId id="260" r:id="rId11"/>
    <p:sldId id="290" r:id="rId12"/>
    <p:sldId id="287" r:id="rId13"/>
    <p:sldId id="283" r:id="rId14"/>
    <p:sldId id="284" r:id="rId15"/>
    <p:sldId id="285" r:id="rId16"/>
    <p:sldId id="286" r:id="rId17"/>
    <p:sldId id="288" r:id="rId18"/>
    <p:sldId id="291" r:id="rId19"/>
    <p:sldId id="262" r:id="rId20"/>
    <p:sldId id="297" r:id="rId21"/>
    <p:sldId id="261" r:id="rId22"/>
    <p:sldId id="264" r:id="rId23"/>
    <p:sldId id="308" r:id="rId24"/>
    <p:sldId id="300" r:id="rId25"/>
    <p:sldId id="301" r:id="rId26"/>
    <p:sldId id="302" r:id="rId27"/>
    <p:sldId id="303" r:id="rId28"/>
    <p:sldId id="304" r:id="rId29"/>
    <p:sldId id="298" r:id="rId30"/>
    <p:sldId id="263" r:id="rId31"/>
    <p:sldId id="299" r:id="rId32"/>
    <p:sldId id="305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306" r:id="rId42"/>
    <p:sldId id="307" r:id="rId43"/>
    <p:sldId id="281" r:id="rId44"/>
    <p:sldId id="282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75A"/>
    <a:srgbClr val="002E8A"/>
    <a:srgbClr val="C1E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51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43361-4F2C-700F-85A3-71C10A0C5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2D712-DF83-335D-F444-EEB51B748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0EF9F-0B93-B166-E28B-819DDDA61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51364-C80A-2881-3531-77862D1D68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696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FD9E9-80D7-F1C4-FAF2-492C963A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4D9FA-2C1C-8753-7619-6E33AD9CD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F70D5-8792-E5AF-E883-869327E0C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6B78E-C407-1595-676B-CC635CE00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6104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A04A-4D75-1EC1-16F9-45A16A1C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599F4-A552-AABF-0C2F-4207332B5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C0C38-E892-E35A-4B5E-32F2A4A9E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9EA4C-5BD3-DD12-CB4C-8C1797400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154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12E4-4FB2-5A67-3CAE-E000A198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18DAF-70B5-FC43-07F5-4B20B1AA5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632E2-FD3E-E6EA-B85F-85D8A6898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C347F-7675-3F3A-253C-887A7B6EAC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82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C427-94FD-9203-AE97-477CE17F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5E2E7-BFAD-093F-686B-1E59C7001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7AEA5-9CDE-3A20-4A5D-6FF6E581A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A4334-A5AF-2734-E0F2-EFDA6768F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453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D08F8-D6E6-76CE-729F-1285B37A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B3C1B-7C90-30CA-0315-791EB3FC1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C9842-CFEA-D6A1-C6DB-BD56BD69F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70D48-897F-9A91-F6F1-FEE579C43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78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8A878-2F41-929E-A3B9-49837089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B2386-ED94-701C-0B8D-45E5A1C61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338D0-AE1C-D6E5-D4A7-9774A7190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7E36F-D84E-8AB6-7656-D298E654B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1814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E50F-D7E0-8803-8247-BC346E7B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61936-7EF0-C713-A2A1-27EB9A074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B8BB3-7D87-1941-E2E6-28490E1C1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ED1FB-E8B7-7DDD-E09D-4DDC9D9F8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4021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C789-300A-30E1-67D7-490964CD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D71D0-C1EE-1670-F023-7333345E1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D10CA-F0DD-8469-B266-666DED4DE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4D523-62B1-D56B-1243-FF66FA165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445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73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24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29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389120" cy="438912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877449" y="68961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CONSTANTINE 1 · TRONC COMMUN SM (LMD) · 2026/2027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62802" y="2584986"/>
            <a:ext cx="10773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Algorithmics: From Problem to Program</a:t>
            </a:r>
            <a:endParaRPr lang="en-US" sz="4200" dirty="0">
              <a:solidFill>
                <a:srgbClr val="FFFF00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590800" y="3888449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computers, algorithms, pseudocode and first steps in Python</a:t>
            </a:r>
            <a:endParaRPr lang="en-US" sz="17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4EBFE08-6F88-DCB8-13F6-5D9718EE153B}"/>
              </a:ext>
            </a:extLst>
          </p:cNvPr>
          <p:cNvSpPr txBox="1"/>
          <p:nvPr/>
        </p:nvSpPr>
        <p:spPr>
          <a:xfrm>
            <a:off x="185651" y="6500553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B7F2948-76A9-D1D3-4167-179CF7B9DA0E}"/>
              </a:ext>
            </a:extLst>
          </p:cNvPr>
          <p:cNvSpPr/>
          <p:nvPr/>
        </p:nvSpPr>
        <p:spPr>
          <a:xfrm>
            <a:off x="7119350" y="5677593"/>
            <a:ext cx="3017520" cy="457200"/>
          </a:xfrm>
          <a:prstGeom prst="roundRect">
            <a:avLst>
              <a:gd name="adj" fmla="val 40000"/>
            </a:avLst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F0975A"/>
                </a:solidFill>
                <a:effectLst/>
                <a:uLnTx/>
                <a:uFillTx/>
              </a:rPr>
              <a:t>DR. FARIDA LARIT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F0975A"/>
              </a:solidFill>
              <a:effectLst/>
              <a:uLnTx/>
              <a:uFillTx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57797904-7AE9-3C8C-935E-9771AE59CF98}"/>
              </a:ext>
            </a:extLst>
          </p:cNvPr>
          <p:cNvSpPr txBox="1"/>
          <p:nvPr/>
        </p:nvSpPr>
        <p:spPr>
          <a:xfrm>
            <a:off x="2684510" y="15605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E0A526"/>
                </a:solidFill>
                <a:effectLst/>
                <a:uLnTx/>
                <a:uFillTx/>
              </a:rPr>
              <a:t>INFORMATIQUE 1  •  COURS 1_SESSION 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E2522"/>
              </a:solidFill>
              <a:effectLst/>
              <a:uLnTx/>
              <a:uFillTx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BA38CAE6-CC5A-4FD6-E14D-E0950425B4F8}"/>
              </a:ext>
            </a:extLst>
          </p:cNvPr>
          <p:cNvSpPr/>
          <p:nvPr/>
        </p:nvSpPr>
        <p:spPr>
          <a:xfrm>
            <a:off x="731520" y="5120640"/>
            <a:ext cx="3017520" cy="457200"/>
          </a:xfrm>
          <a:prstGeom prst="roundRect">
            <a:avLst>
              <a:gd name="adj" fmla="val 40000"/>
            </a:avLst>
          </a:prstGeom>
          <a:solidFill>
            <a:schemeClr val="bg1"/>
          </a:solidFill>
          <a:ln>
            <a:solidFill>
              <a:srgbClr val="2F7D5B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L1 — Sciences de la Matière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50CA3C4-6492-BA17-BACB-CB0011DAA8AF}"/>
              </a:ext>
            </a:extLst>
          </p:cNvPr>
          <p:cNvSpPr/>
          <p:nvPr/>
        </p:nvSpPr>
        <p:spPr>
          <a:xfrm>
            <a:off x="3931920" y="5120640"/>
            <a:ext cx="1737360" cy="457200"/>
          </a:xfrm>
          <a:prstGeom prst="roundRect">
            <a:avLst>
              <a:gd name="adj" fmla="val 40000"/>
            </a:avLst>
          </a:prstGeom>
          <a:solidFill>
            <a:schemeClr val="bg1"/>
          </a:solidFill>
          <a:ln>
            <a:solidFill>
              <a:srgbClr val="2F7D5B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Lecture 1h30</a:t>
            </a:r>
            <a:endParaRPr kumimoji="0" lang="en-US" sz="15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98224-7A08-F448-89BA-046135B61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33966E-7014-2A1F-79B3-D23F07F60C47}"/>
              </a:ext>
            </a:extLst>
          </p:cNvPr>
          <p:cNvSpPr/>
          <p:nvPr/>
        </p:nvSpPr>
        <p:spPr>
          <a:xfrm>
            <a:off x="9509760" y="-1188720"/>
            <a:ext cx="4389120" cy="438912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A6F304-3530-3F6C-7FAB-E54E17C28B72}"/>
              </a:ext>
            </a:extLst>
          </p:cNvPr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24EEB-3DB0-9526-CD8F-9F8E3345E094}"/>
              </a:ext>
            </a:extLst>
          </p:cNvPr>
          <p:cNvSpPr txBox="1"/>
          <p:nvPr/>
        </p:nvSpPr>
        <p:spPr>
          <a:xfrm>
            <a:off x="421179" y="4938067"/>
            <a:ext cx="7100454" cy="11237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sz="2000" b="1" dirty="0"/>
              <a:t>Build Program Logic:</a:t>
            </a:r>
            <a:r>
              <a:rPr lang="en-US" sz="2000" dirty="0"/>
              <a:t> Design and implement sequential algorithms using core control flow structures, including conditional statements and loops.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0DF195-C1EC-90B1-1E79-046B7C0185D6}"/>
              </a:ext>
            </a:extLst>
          </p:cNvPr>
          <p:cNvSpPr/>
          <p:nvPr/>
        </p:nvSpPr>
        <p:spPr>
          <a:xfrm>
            <a:off x="334171" y="2183657"/>
            <a:ext cx="73152" cy="1015663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FEDB2A-9D61-6EF5-2E4A-C2D3C72FCC69}"/>
              </a:ext>
            </a:extLst>
          </p:cNvPr>
          <p:cNvSpPr txBox="1"/>
          <p:nvPr/>
        </p:nvSpPr>
        <p:spPr>
          <a:xfrm>
            <a:off x="334171" y="860051"/>
            <a:ext cx="71004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Course Objectives: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DCEB2-0207-19DD-93B7-1FA97444F7D0}"/>
              </a:ext>
            </a:extLst>
          </p:cNvPr>
          <p:cNvSpPr txBox="1"/>
          <p:nvPr/>
        </p:nvSpPr>
        <p:spPr>
          <a:xfrm>
            <a:off x="421178" y="2165406"/>
            <a:ext cx="7100454" cy="1123712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Algorithmic Thinking: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Grasp the foundational concepts of algorithms and their vital role in structured problem-solving.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43FB99-F008-8E35-DDC6-AD84B4191398}"/>
              </a:ext>
            </a:extLst>
          </p:cNvPr>
          <p:cNvSpPr txBox="1"/>
          <p:nvPr/>
        </p:nvSpPr>
        <p:spPr>
          <a:xfrm>
            <a:off x="421178" y="3750511"/>
            <a:ext cx="7100454" cy="783193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/>
            <a:r>
              <a:rPr lang="en-US" sz="2000" b="1" dirty="0"/>
              <a:t>Master Python Essentials:</a:t>
            </a:r>
            <a:r>
              <a:rPr lang="en-US" sz="2000" dirty="0"/>
              <a:t> Gain practical proficiency in basic Python syntax, data types, and fundamental operators.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5167B3-17C5-A3C4-0314-3A4C4D62FA1B}"/>
              </a:ext>
            </a:extLst>
          </p:cNvPr>
          <p:cNvSpPr/>
          <p:nvPr/>
        </p:nvSpPr>
        <p:spPr>
          <a:xfrm>
            <a:off x="408708" y="3753023"/>
            <a:ext cx="45719" cy="783193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85E4DF-2426-7185-7157-47C055AB58DD}"/>
              </a:ext>
            </a:extLst>
          </p:cNvPr>
          <p:cNvSpPr/>
          <p:nvPr/>
        </p:nvSpPr>
        <p:spPr>
          <a:xfrm>
            <a:off x="348026" y="4992091"/>
            <a:ext cx="73152" cy="1015663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76FE51AA-73F5-CE38-7976-93E898FAA12F}"/>
              </a:ext>
            </a:extLst>
          </p:cNvPr>
          <p:cNvSpPr txBox="1"/>
          <p:nvPr/>
        </p:nvSpPr>
        <p:spPr>
          <a:xfrm>
            <a:off x="185651" y="6500553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3FEDBA-1D65-06E2-1D3A-8188147EFA01}"/>
              </a:ext>
            </a:extLst>
          </p:cNvPr>
          <p:cNvSpPr txBox="1"/>
          <p:nvPr/>
        </p:nvSpPr>
        <p:spPr>
          <a:xfrm>
            <a:off x="370747" y="216801"/>
            <a:ext cx="134203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100" b="1" dirty="0">
                <a:solidFill>
                  <a:schemeClr val="bg1"/>
                </a:solidFill>
                <a:latin typeface="Aptos"/>
              </a:rPr>
              <a:t>LEARNING GOALS</a:t>
            </a:r>
          </a:p>
        </p:txBody>
      </p:sp>
    </p:spTree>
    <p:extLst>
      <p:ext uri="{BB962C8B-B14F-4D97-AF65-F5344CB8AC3E}">
        <p14:creationId xmlns:p14="http://schemas.microsoft.com/office/powerpoint/2010/main" val="184317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92421-88DD-D944-5AD6-6F80E9537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4151E2-EAA2-D2D8-50DD-D89E853B981A}"/>
              </a:ext>
            </a:extLst>
          </p:cNvPr>
          <p:cNvSpPr/>
          <p:nvPr/>
        </p:nvSpPr>
        <p:spPr>
          <a:xfrm>
            <a:off x="9509760" y="-1188720"/>
            <a:ext cx="4389120" cy="438912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5A55589-09B9-35F9-044B-668D50313874}"/>
              </a:ext>
            </a:extLst>
          </p:cNvPr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0C21869F-DBD0-9343-3521-AB7FEA99368B}"/>
              </a:ext>
            </a:extLst>
          </p:cNvPr>
          <p:cNvSpPr/>
          <p:nvPr/>
        </p:nvSpPr>
        <p:spPr>
          <a:xfrm>
            <a:off x="571500" y="2382051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CC172B-8233-64E3-EB63-DF2EBC1F7249}"/>
              </a:ext>
            </a:extLst>
          </p:cNvPr>
          <p:cNvSpPr/>
          <p:nvPr/>
        </p:nvSpPr>
        <p:spPr>
          <a:xfrm>
            <a:off x="571500" y="2382051"/>
            <a:ext cx="73152" cy="146304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235557-3892-77C0-5876-02EEA0F91D2A}"/>
              </a:ext>
            </a:extLst>
          </p:cNvPr>
          <p:cNvSpPr txBox="1"/>
          <p:nvPr/>
        </p:nvSpPr>
        <p:spPr>
          <a:xfrm>
            <a:off x="800100" y="2510067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THINK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E217E-1462-7064-7CDF-D2B500881E12}"/>
              </a:ext>
            </a:extLst>
          </p:cNvPr>
          <p:cNvSpPr txBox="1"/>
          <p:nvPr/>
        </p:nvSpPr>
        <p:spPr>
          <a:xfrm>
            <a:off x="800100" y="2903258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600">
                <a:solidFill>
                  <a:srgbClr val="263238"/>
                </a:solidFill>
                <a:latin typeface="Aptos"/>
              </a:rPr>
              <a:t>Break a scientific problem into clear steps.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A8491281-B773-58BF-0C2E-7EAE70A453B7}"/>
              </a:ext>
            </a:extLst>
          </p:cNvPr>
          <p:cNvSpPr/>
          <p:nvPr/>
        </p:nvSpPr>
        <p:spPr>
          <a:xfrm>
            <a:off x="6096338" y="2352264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311A8F-31EC-D5D3-61B6-8CAD1EC7CEB0}"/>
              </a:ext>
            </a:extLst>
          </p:cNvPr>
          <p:cNvSpPr/>
          <p:nvPr/>
        </p:nvSpPr>
        <p:spPr>
          <a:xfrm>
            <a:off x="6077989" y="2382051"/>
            <a:ext cx="73152" cy="146304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068794-D4DF-53EE-138D-3EF7615A23EC}"/>
              </a:ext>
            </a:extLst>
          </p:cNvPr>
          <p:cNvSpPr txBox="1"/>
          <p:nvPr/>
        </p:nvSpPr>
        <p:spPr>
          <a:xfrm>
            <a:off x="6377940" y="2510067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DESIGN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7A3A75-5001-24A0-BB79-24E3466CF5D6}"/>
              </a:ext>
            </a:extLst>
          </p:cNvPr>
          <p:cNvSpPr txBox="1"/>
          <p:nvPr/>
        </p:nvSpPr>
        <p:spPr>
          <a:xfrm>
            <a:off x="6377940" y="2903258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600">
                <a:solidFill>
                  <a:srgbClr val="263238"/>
                </a:solidFill>
                <a:latin typeface="Aptos"/>
              </a:rPr>
              <a:t>Build a finite sequence of instructions.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419E7DDC-EE11-572F-DD6A-68B6248A7F53}"/>
              </a:ext>
            </a:extLst>
          </p:cNvPr>
          <p:cNvSpPr/>
          <p:nvPr/>
        </p:nvSpPr>
        <p:spPr>
          <a:xfrm>
            <a:off x="640080" y="4082004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3B0262-8D20-0F40-598F-6192C0AD5007}"/>
              </a:ext>
            </a:extLst>
          </p:cNvPr>
          <p:cNvSpPr/>
          <p:nvPr/>
        </p:nvSpPr>
        <p:spPr>
          <a:xfrm>
            <a:off x="640080" y="4082004"/>
            <a:ext cx="73152" cy="146304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D3A1FD-99CD-53CD-815F-8C9A423439AA}"/>
              </a:ext>
            </a:extLst>
          </p:cNvPr>
          <p:cNvSpPr txBox="1"/>
          <p:nvPr/>
        </p:nvSpPr>
        <p:spPr>
          <a:xfrm>
            <a:off x="868680" y="4210020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TRANSLATE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3823BD-F38B-3FF7-DFEF-6FFAE7BA4884}"/>
              </a:ext>
            </a:extLst>
          </p:cNvPr>
          <p:cNvSpPr txBox="1"/>
          <p:nvPr/>
        </p:nvSpPr>
        <p:spPr>
          <a:xfrm>
            <a:off x="868680" y="4603211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600">
                <a:solidFill>
                  <a:srgbClr val="263238"/>
                </a:solidFill>
                <a:latin typeface="Aptos"/>
              </a:rPr>
              <a:t>Move from an algorithm to Python.</a:t>
            </a:r>
          </a:p>
        </p:txBody>
      </p:sp>
      <p:sp>
        <p:nvSpPr>
          <p:cNvPr id="23" name="Rounded Rectangle 19">
            <a:extLst>
              <a:ext uri="{FF2B5EF4-FFF2-40B4-BE49-F238E27FC236}">
                <a16:creationId xmlns:a16="http://schemas.microsoft.com/office/drawing/2014/main" id="{F32B95F0-BD51-127E-DF50-C7666F4BCCE7}"/>
              </a:ext>
            </a:extLst>
          </p:cNvPr>
          <p:cNvSpPr/>
          <p:nvPr/>
        </p:nvSpPr>
        <p:spPr>
          <a:xfrm>
            <a:off x="6217920" y="4082004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006259-86AB-E2A7-9913-43707B2A28A4}"/>
              </a:ext>
            </a:extLst>
          </p:cNvPr>
          <p:cNvSpPr/>
          <p:nvPr/>
        </p:nvSpPr>
        <p:spPr>
          <a:xfrm>
            <a:off x="6217920" y="4082004"/>
            <a:ext cx="73152" cy="1463040"/>
          </a:xfrm>
          <a:prstGeom prst="rect">
            <a:avLst/>
          </a:prstGeom>
          <a:solidFill>
            <a:srgbClr val="9AD5BC"/>
          </a:solidFill>
          <a:ln w="9525" cap="flat" cmpd="sng" algn="ctr">
            <a:solidFill>
              <a:srgbClr val="9AD5BC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2E0F10-287D-85F8-8B0D-CE3B01CAF3EB}"/>
              </a:ext>
            </a:extLst>
          </p:cNvPr>
          <p:cNvSpPr txBox="1"/>
          <p:nvPr/>
        </p:nvSpPr>
        <p:spPr>
          <a:xfrm>
            <a:off x="6446520" y="4210020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VERIFY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3FCCAE-A091-CD20-A4F8-D266323FA186}"/>
              </a:ext>
            </a:extLst>
          </p:cNvPr>
          <p:cNvSpPr txBox="1"/>
          <p:nvPr/>
        </p:nvSpPr>
        <p:spPr>
          <a:xfrm>
            <a:off x="6446520" y="4603211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600">
                <a:solidFill>
                  <a:srgbClr val="263238"/>
                </a:solidFill>
                <a:latin typeface="Aptos"/>
              </a:rPr>
              <a:t>Use AI critically — not blindly.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B195A7-DA57-876E-A159-7EA5810078C7}"/>
              </a:ext>
            </a:extLst>
          </p:cNvPr>
          <p:cNvSpPr txBox="1"/>
          <p:nvPr/>
        </p:nvSpPr>
        <p:spPr>
          <a:xfrm>
            <a:off x="3154680" y="5800828"/>
            <a:ext cx="5446876" cy="3847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sz="1900" b="1" dirty="0">
                <a:solidFill>
                  <a:srgbClr val="FFFF00"/>
                </a:solidFill>
                <a:latin typeface="Aptos"/>
              </a:rPr>
              <a:t>PROBLEM  →  ALGORITHM  →  PYTHON  →  RESULT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19444B-14EB-8563-C16F-28D8E2EAF645}"/>
              </a:ext>
            </a:extLst>
          </p:cNvPr>
          <p:cNvSpPr txBox="1"/>
          <p:nvPr/>
        </p:nvSpPr>
        <p:spPr>
          <a:xfrm>
            <a:off x="507769" y="1495083"/>
            <a:ext cx="3233899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rgbClr val="FFFF00"/>
                </a:solidFill>
                <a:latin typeface="Aptos"/>
              </a:rPr>
              <a:t>What will we learn?</a:t>
            </a: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8A95E46C-350B-2772-1AFE-7E4AB5F1C29E}"/>
              </a:ext>
            </a:extLst>
          </p:cNvPr>
          <p:cNvSpPr txBox="1"/>
          <p:nvPr/>
        </p:nvSpPr>
        <p:spPr>
          <a:xfrm>
            <a:off x="185651" y="6500553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A25F84-D71D-97EE-42C4-C01912BC2C93}"/>
              </a:ext>
            </a:extLst>
          </p:cNvPr>
          <p:cNvSpPr txBox="1"/>
          <p:nvPr/>
        </p:nvSpPr>
        <p:spPr>
          <a:xfrm>
            <a:off x="507769" y="149870"/>
            <a:ext cx="1342034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100" b="1" dirty="0">
                <a:solidFill>
                  <a:schemeClr val="bg1"/>
                </a:solidFill>
                <a:latin typeface="Aptos"/>
              </a:rPr>
              <a:t>LEARNING GOALS</a:t>
            </a:r>
          </a:p>
        </p:txBody>
      </p:sp>
    </p:spTree>
    <p:extLst>
      <p:ext uri="{BB962C8B-B14F-4D97-AF65-F5344CB8AC3E}">
        <p14:creationId xmlns:p14="http://schemas.microsoft.com/office/powerpoint/2010/main" val="337070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roadmap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463040"/>
            <a:ext cx="4572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463040"/>
            <a:ext cx="91440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and the program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2240280"/>
            <a:ext cx="4572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40280"/>
            <a:ext cx="91440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algorithm?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3017520"/>
            <a:ext cx="4572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Data: constants, variables, types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794760"/>
            <a:ext cx="4572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94760"/>
            <a:ext cx="91440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expressions, assignment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4572000"/>
            <a:ext cx="4572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572000"/>
            <a:ext cx="91440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Input/Output, flowcharts and Python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77240" y="5349240"/>
            <a:ext cx="4572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349240"/>
            <a:ext cx="9144000" cy="640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Worked exercises, common mistakes, quiz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09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lecture, you will be able to…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17820" cy="2103120"/>
          </a:xfrm>
          <a:prstGeom prst="roundRect">
            <a:avLst>
              <a:gd name="adj" fmla="val 4348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50520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computer runs a program: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software, memory, and the CPU.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5060" y="1554480"/>
            <a:ext cx="54178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77940" y="169164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77940" y="2148840"/>
            <a:ext cx="50520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(the method) from a program (its translation into a language).</a:t>
            </a:r>
            <a:endParaRPr lang="en-US" sz="2400" b="1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17820" cy="2103120"/>
          </a:xfrm>
          <a:prstGeom prst="roundRect">
            <a:avLst>
              <a:gd name="adj" fmla="val 4348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402336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80560"/>
            <a:ext cx="50520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algorithms in pseudocode using variables, operators, Read, and Write.</a:t>
            </a:r>
            <a:endParaRPr lang="en-US" sz="2400" b="1" dirty="0"/>
          </a:p>
        </p:txBody>
      </p:sp>
      <p:sp>
        <p:nvSpPr>
          <p:cNvPr id="15" name="Shape 13"/>
          <p:cNvSpPr/>
          <p:nvPr/>
        </p:nvSpPr>
        <p:spPr>
          <a:xfrm>
            <a:off x="6195060" y="3886200"/>
            <a:ext cx="54178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77940" y="402336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&amp; test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377940" y="4480560"/>
            <a:ext cx="50520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into Python and check it with a trace table.</a:t>
            </a: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98B64-FB3B-CA5B-BD0D-86736FE6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A07FF8-A6C2-5FD5-6878-B41D9B7A77B6}"/>
              </a:ext>
            </a:extLst>
          </p:cNvPr>
          <p:cNvSpPr/>
          <p:nvPr/>
        </p:nvSpPr>
        <p:spPr>
          <a:xfrm>
            <a:off x="9509760" y="-1188720"/>
            <a:ext cx="4389120" cy="438912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39DE00-4241-30F6-68C0-BC54794778AB}"/>
              </a:ext>
            </a:extLst>
          </p:cNvPr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6C5ABCCC-4D52-ABAE-5C1F-D5F84824A615}"/>
              </a:ext>
            </a:extLst>
          </p:cNvPr>
          <p:cNvSpPr txBox="1"/>
          <p:nvPr/>
        </p:nvSpPr>
        <p:spPr>
          <a:xfrm>
            <a:off x="185651" y="6500553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624B9-C217-152D-41E8-80170BB6F9C1}"/>
              </a:ext>
            </a:extLst>
          </p:cNvPr>
          <p:cNvSpPr txBox="1"/>
          <p:nvPr/>
        </p:nvSpPr>
        <p:spPr>
          <a:xfrm>
            <a:off x="1108504" y="2612697"/>
            <a:ext cx="8767016" cy="92333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sz="2700" b="1" dirty="0">
                <a:solidFill>
                  <a:srgbClr val="FFFF00"/>
                </a:solidFill>
                <a:latin typeface="Aptos"/>
              </a:rPr>
              <a:t>Informatics is the systematic processing, storage,
transmission</a:t>
            </a:r>
            <a:r>
              <a:rPr lang="en-US" sz="2700" b="1" dirty="0">
                <a:solidFill>
                  <a:srgbClr val="FFFF00"/>
                </a:solidFill>
                <a:latin typeface="Aptos"/>
              </a:rPr>
              <a:t>,</a:t>
            </a:r>
            <a:r>
              <a:rPr sz="2700" b="1" dirty="0">
                <a:solidFill>
                  <a:srgbClr val="FFFF00"/>
                </a:solidFill>
                <a:latin typeface="Aptos"/>
              </a:rPr>
              <a:t> and use of information using computers.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F30A43B3-3F84-5120-3042-F8459414E546}"/>
              </a:ext>
            </a:extLst>
          </p:cNvPr>
          <p:cNvSpPr/>
          <p:nvPr/>
        </p:nvSpPr>
        <p:spPr>
          <a:xfrm>
            <a:off x="731520" y="3871653"/>
            <a:ext cx="3200400" cy="13258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DA35C4-85D3-7401-FA5D-38C2FDF61BBA}"/>
              </a:ext>
            </a:extLst>
          </p:cNvPr>
          <p:cNvSpPr/>
          <p:nvPr/>
        </p:nvSpPr>
        <p:spPr>
          <a:xfrm>
            <a:off x="731520" y="3871653"/>
            <a:ext cx="73152" cy="132588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09B614-5A9E-90A2-1DC9-D193AD4BCFE9}"/>
              </a:ext>
            </a:extLst>
          </p:cNvPr>
          <p:cNvSpPr txBox="1"/>
          <p:nvPr/>
        </p:nvSpPr>
        <p:spPr>
          <a:xfrm>
            <a:off x="960120" y="3999669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English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F21FD3-AC58-4ABE-CBC3-6924512B85E0}"/>
              </a:ext>
            </a:extLst>
          </p:cNvPr>
          <p:cNvSpPr txBox="1"/>
          <p:nvPr/>
        </p:nvSpPr>
        <p:spPr>
          <a:xfrm>
            <a:off x="960120" y="4392860"/>
            <a:ext cx="2816352" cy="7040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>
                <a:solidFill>
                  <a:srgbClr val="263238"/>
                </a:solidFill>
                <a:latin typeface="Aptos"/>
              </a:rPr>
              <a:t>Informatics</a:t>
            </a:r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B63218EB-82E8-0EDE-1CA6-C9CAE74E1337}"/>
              </a:ext>
            </a:extLst>
          </p:cNvPr>
          <p:cNvSpPr/>
          <p:nvPr/>
        </p:nvSpPr>
        <p:spPr>
          <a:xfrm>
            <a:off x="4480560" y="3871653"/>
            <a:ext cx="3200400" cy="13258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F55E7E-967A-DEC6-A096-00DD51898FA4}"/>
              </a:ext>
            </a:extLst>
          </p:cNvPr>
          <p:cNvSpPr/>
          <p:nvPr/>
        </p:nvSpPr>
        <p:spPr>
          <a:xfrm>
            <a:off x="4480560" y="3871653"/>
            <a:ext cx="73152" cy="132588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C92897-AFC1-57AB-850C-54C68ACB4B97}"/>
              </a:ext>
            </a:extLst>
          </p:cNvPr>
          <p:cNvSpPr txBox="1"/>
          <p:nvPr/>
        </p:nvSpPr>
        <p:spPr>
          <a:xfrm>
            <a:off x="4709160" y="3999669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Français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DC61F3-3273-8C72-5349-01AB60C80054}"/>
              </a:ext>
            </a:extLst>
          </p:cNvPr>
          <p:cNvSpPr txBox="1"/>
          <p:nvPr/>
        </p:nvSpPr>
        <p:spPr>
          <a:xfrm>
            <a:off x="4709160" y="4392860"/>
            <a:ext cx="2816352" cy="7040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>
                <a:solidFill>
                  <a:srgbClr val="263238"/>
                </a:solidFill>
                <a:latin typeface="Aptos"/>
              </a:rPr>
              <a:t>Informatique</a:t>
            </a:r>
          </a:p>
        </p:txBody>
      </p:sp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5B960501-CE17-B19C-D6F7-3C4D4ACDAF64}"/>
              </a:ext>
            </a:extLst>
          </p:cNvPr>
          <p:cNvSpPr/>
          <p:nvPr/>
        </p:nvSpPr>
        <p:spPr>
          <a:xfrm>
            <a:off x="8229600" y="3871653"/>
            <a:ext cx="3200400" cy="13258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93D0C8-256C-9B30-68AD-9ADA7C5658DC}"/>
              </a:ext>
            </a:extLst>
          </p:cNvPr>
          <p:cNvSpPr/>
          <p:nvPr/>
        </p:nvSpPr>
        <p:spPr>
          <a:xfrm>
            <a:off x="8229600" y="3871653"/>
            <a:ext cx="73152" cy="132588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EAAD74-0561-01EB-3C49-CE72E262A66B}"/>
              </a:ext>
            </a:extLst>
          </p:cNvPr>
          <p:cNvSpPr txBox="1"/>
          <p:nvPr/>
        </p:nvSpPr>
        <p:spPr>
          <a:xfrm>
            <a:off x="8458200" y="3999669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العربية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421351-E452-EF33-443B-5C6731F46BD9}"/>
              </a:ext>
            </a:extLst>
          </p:cNvPr>
          <p:cNvSpPr txBox="1"/>
          <p:nvPr/>
        </p:nvSpPr>
        <p:spPr>
          <a:xfrm>
            <a:off x="8458200" y="4392860"/>
            <a:ext cx="2816352" cy="7040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700">
                <a:solidFill>
                  <a:srgbClr val="263238"/>
                </a:solidFill>
                <a:latin typeface="Aptos"/>
              </a:rPr>
              <a:t>الإعلام الآلي / المعلوماتية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74243D-C464-D889-ADEE-5A8042EE8944}"/>
              </a:ext>
            </a:extLst>
          </p:cNvPr>
          <p:cNvSpPr txBox="1"/>
          <p:nvPr/>
        </p:nvSpPr>
        <p:spPr>
          <a:xfrm>
            <a:off x="640080" y="1638650"/>
            <a:ext cx="3429593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chemeClr val="bg1"/>
                </a:solidFill>
                <a:latin typeface="Aptos"/>
              </a:rPr>
              <a:t>What is Informatics?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F99FDE-823B-09EF-1294-55AFAC72F7BA}"/>
              </a:ext>
            </a:extLst>
          </p:cNvPr>
          <p:cNvSpPr txBox="1"/>
          <p:nvPr/>
        </p:nvSpPr>
        <p:spPr>
          <a:xfrm>
            <a:off x="502920" y="280675"/>
            <a:ext cx="82586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100" b="1" dirty="0">
                <a:solidFill>
                  <a:schemeClr val="bg1"/>
                </a:solidFill>
                <a:latin typeface="Aptos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3477091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49304-7255-E4BD-F99F-5FE20B3F6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169659-4FCF-CD3E-A26B-2286FA9CF980}"/>
              </a:ext>
            </a:extLst>
          </p:cNvPr>
          <p:cNvSpPr/>
          <p:nvPr/>
        </p:nvSpPr>
        <p:spPr>
          <a:xfrm>
            <a:off x="9509760" y="-1188720"/>
            <a:ext cx="4389120" cy="438912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BE4658-CCF9-B21A-6171-43C71E2E48AE}"/>
              </a:ext>
            </a:extLst>
          </p:cNvPr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A0B272BB-778E-F892-4EA9-87BB7CBA7224}"/>
              </a:ext>
            </a:extLst>
          </p:cNvPr>
          <p:cNvSpPr txBox="1"/>
          <p:nvPr/>
        </p:nvSpPr>
        <p:spPr>
          <a:xfrm>
            <a:off x="185651" y="6500553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D5ED90-D0CF-ECE3-E0DD-3FAD1BE4DFB9}"/>
              </a:ext>
            </a:extLst>
          </p:cNvPr>
          <p:cNvSpPr txBox="1"/>
          <p:nvPr/>
        </p:nvSpPr>
        <p:spPr>
          <a:xfrm>
            <a:off x="502920" y="280675"/>
            <a:ext cx="825867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CONCEPT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054E3-5B3F-17A0-969E-3781AF7A4352}"/>
              </a:ext>
            </a:extLst>
          </p:cNvPr>
          <p:cNvSpPr txBox="1"/>
          <p:nvPr/>
        </p:nvSpPr>
        <p:spPr>
          <a:xfrm>
            <a:off x="499533" y="718171"/>
            <a:ext cx="3548279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800" b="1" dirty="0">
                <a:solidFill>
                  <a:srgbClr val="FFFF00"/>
                </a:solidFill>
                <a:latin typeface="Aptos"/>
              </a:rPr>
              <a:t>What is a computer?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7AD99C48-20EE-D2FC-B7C8-01DD13113499}"/>
              </a:ext>
            </a:extLst>
          </p:cNvPr>
          <p:cNvSpPr/>
          <p:nvPr/>
        </p:nvSpPr>
        <p:spPr>
          <a:xfrm>
            <a:off x="502920" y="1920240"/>
            <a:ext cx="24231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DD63E7-967D-F0FA-8150-BA78E4AF9CED}"/>
              </a:ext>
            </a:extLst>
          </p:cNvPr>
          <p:cNvSpPr/>
          <p:nvPr/>
        </p:nvSpPr>
        <p:spPr>
          <a:xfrm>
            <a:off x="502920" y="1920240"/>
            <a:ext cx="73152" cy="150876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19B8E6-BB10-4E90-F4A9-E715FA855503}"/>
              </a:ext>
            </a:extLst>
          </p:cNvPr>
          <p:cNvSpPr txBox="1"/>
          <p:nvPr/>
        </p:nvSpPr>
        <p:spPr>
          <a:xfrm>
            <a:off x="731520" y="2048256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FC240-D6A5-3F86-C1F0-9FBCE48776E1}"/>
              </a:ext>
            </a:extLst>
          </p:cNvPr>
          <p:cNvSpPr txBox="1"/>
          <p:nvPr/>
        </p:nvSpPr>
        <p:spPr>
          <a:xfrm>
            <a:off x="731520" y="2441447"/>
            <a:ext cx="20391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400">
                <a:solidFill>
                  <a:srgbClr val="263238"/>
                </a:solidFill>
                <a:latin typeface="Aptos"/>
              </a:rPr>
              <a:t>Data enter the system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4329FAA0-5A82-A4D1-76B3-23CEC31F0DB0}"/>
              </a:ext>
            </a:extLst>
          </p:cNvPr>
          <p:cNvSpPr/>
          <p:nvPr/>
        </p:nvSpPr>
        <p:spPr>
          <a:xfrm>
            <a:off x="3429000" y="1920240"/>
            <a:ext cx="24231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7A0D30-E2EC-A678-E173-14F0605AF343}"/>
              </a:ext>
            </a:extLst>
          </p:cNvPr>
          <p:cNvSpPr/>
          <p:nvPr/>
        </p:nvSpPr>
        <p:spPr>
          <a:xfrm>
            <a:off x="3429000" y="1920240"/>
            <a:ext cx="73152" cy="150876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C4B384-A6B0-C535-0D0E-1A1E3E77AB0D}"/>
              </a:ext>
            </a:extLst>
          </p:cNvPr>
          <p:cNvSpPr txBox="1"/>
          <p:nvPr/>
        </p:nvSpPr>
        <p:spPr>
          <a:xfrm>
            <a:off x="3657600" y="2048256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PROCESSING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003145-AA9C-12F8-5AF8-3BF223F7A554}"/>
              </a:ext>
            </a:extLst>
          </p:cNvPr>
          <p:cNvSpPr txBox="1"/>
          <p:nvPr/>
        </p:nvSpPr>
        <p:spPr>
          <a:xfrm>
            <a:off x="3657600" y="2441447"/>
            <a:ext cx="20391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400">
                <a:solidFill>
                  <a:srgbClr val="263238"/>
                </a:solidFill>
                <a:latin typeface="Aptos"/>
              </a:rPr>
              <a:t>Instructions are executed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C25AF15-8BCA-DDBC-8C92-BFFD46D9FE19}"/>
              </a:ext>
            </a:extLst>
          </p:cNvPr>
          <p:cNvSpPr/>
          <p:nvPr/>
        </p:nvSpPr>
        <p:spPr>
          <a:xfrm>
            <a:off x="6355080" y="1920240"/>
            <a:ext cx="24231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A7610F-F3D5-EBAC-B4B1-AD1D64444F0F}"/>
              </a:ext>
            </a:extLst>
          </p:cNvPr>
          <p:cNvSpPr/>
          <p:nvPr/>
        </p:nvSpPr>
        <p:spPr>
          <a:xfrm>
            <a:off x="6355080" y="1920240"/>
            <a:ext cx="73152" cy="150876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3CE9F9-AD3A-E08A-E1E8-8AC7A7ECCD43}"/>
              </a:ext>
            </a:extLst>
          </p:cNvPr>
          <p:cNvSpPr txBox="1"/>
          <p:nvPr/>
        </p:nvSpPr>
        <p:spPr>
          <a:xfrm>
            <a:off x="6583680" y="2048256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B131BA-90F6-C772-5D0A-B8711EAC4C87}"/>
              </a:ext>
            </a:extLst>
          </p:cNvPr>
          <p:cNvSpPr txBox="1"/>
          <p:nvPr/>
        </p:nvSpPr>
        <p:spPr>
          <a:xfrm>
            <a:off x="6583680" y="2441447"/>
            <a:ext cx="20391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400">
                <a:solidFill>
                  <a:srgbClr val="263238"/>
                </a:solidFill>
                <a:latin typeface="Aptos"/>
              </a:rPr>
              <a:t>Results are produced</a:t>
            </a:r>
          </a:p>
        </p:txBody>
      </p:sp>
      <p:sp>
        <p:nvSpPr>
          <p:cNvPr id="33" name="Rounded Rectangle 19">
            <a:extLst>
              <a:ext uri="{FF2B5EF4-FFF2-40B4-BE49-F238E27FC236}">
                <a16:creationId xmlns:a16="http://schemas.microsoft.com/office/drawing/2014/main" id="{C6F7C60A-F5F5-A756-E507-F622B92503DA}"/>
              </a:ext>
            </a:extLst>
          </p:cNvPr>
          <p:cNvSpPr/>
          <p:nvPr/>
        </p:nvSpPr>
        <p:spPr>
          <a:xfrm>
            <a:off x="9281160" y="1920240"/>
            <a:ext cx="24231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30073C-231E-3848-A325-D91E90B4F442}"/>
              </a:ext>
            </a:extLst>
          </p:cNvPr>
          <p:cNvSpPr/>
          <p:nvPr/>
        </p:nvSpPr>
        <p:spPr>
          <a:xfrm>
            <a:off x="9281160" y="1920240"/>
            <a:ext cx="73152" cy="150876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accent6">
                <a:lumMod val="50000"/>
              </a:scheme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912235-82F2-EB89-838B-3AAD4CD22C0F}"/>
              </a:ext>
            </a:extLst>
          </p:cNvPr>
          <p:cNvSpPr txBox="1"/>
          <p:nvPr/>
        </p:nvSpPr>
        <p:spPr>
          <a:xfrm>
            <a:off x="9509760" y="2048256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STORAGE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786B1F-21FF-D284-292F-13817BDFC3CC}"/>
              </a:ext>
            </a:extLst>
          </p:cNvPr>
          <p:cNvSpPr txBox="1"/>
          <p:nvPr/>
        </p:nvSpPr>
        <p:spPr>
          <a:xfrm>
            <a:off x="9509760" y="2441447"/>
            <a:ext cx="20391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400">
                <a:solidFill>
                  <a:srgbClr val="263238"/>
                </a:solidFill>
                <a:latin typeface="Aptos"/>
              </a:rPr>
              <a:t>Information is kept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0F9A4A-211D-073A-C0E0-1814188BCB5D}"/>
              </a:ext>
            </a:extLst>
          </p:cNvPr>
          <p:cNvSpPr txBox="1"/>
          <p:nvPr/>
        </p:nvSpPr>
        <p:spPr>
          <a:xfrm>
            <a:off x="576072" y="3790295"/>
            <a:ext cx="1059450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sz="2400" b="1" dirty="0">
                <a:solidFill>
                  <a:schemeClr val="bg1"/>
                </a:solidFill>
                <a:latin typeface="Aptos"/>
              </a:rPr>
              <a:t>Scientific example: temperature sensor → computer → average temperature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03256076-5EB8-2AC2-E765-37414B90A02D}"/>
              </a:ext>
            </a:extLst>
          </p:cNvPr>
          <p:cNvSpPr/>
          <p:nvPr/>
        </p:nvSpPr>
        <p:spPr>
          <a:xfrm>
            <a:off x="2944368" y="2443788"/>
            <a:ext cx="484632" cy="46166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4239554-B4B8-393D-DAE7-4A17972A39F0}"/>
              </a:ext>
            </a:extLst>
          </p:cNvPr>
          <p:cNvSpPr/>
          <p:nvPr/>
        </p:nvSpPr>
        <p:spPr>
          <a:xfrm>
            <a:off x="8809228" y="2423267"/>
            <a:ext cx="484632" cy="46166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57E40D91-27F4-DCAC-85A1-6ACE93E5343E}"/>
              </a:ext>
            </a:extLst>
          </p:cNvPr>
          <p:cNvSpPr/>
          <p:nvPr/>
        </p:nvSpPr>
        <p:spPr>
          <a:xfrm>
            <a:off x="5870448" y="2443788"/>
            <a:ext cx="484632" cy="46166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4CADF3-90CF-86B3-F22F-41A56BB024DC}"/>
              </a:ext>
            </a:extLst>
          </p:cNvPr>
          <p:cNvSpPr txBox="1"/>
          <p:nvPr/>
        </p:nvSpPr>
        <p:spPr>
          <a:xfrm>
            <a:off x="731520" y="4568894"/>
            <a:ext cx="2743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Input: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Temperature sensor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→ 20, 22, 21, 23, 24 °C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12FB6D-2B74-F8C1-0CE9-6BE7176EFADB}"/>
                  </a:ext>
                </a:extLst>
              </p:cNvPr>
              <p:cNvSpPr txBox="1"/>
              <p:nvPr/>
            </p:nvSpPr>
            <p:spPr>
              <a:xfrm>
                <a:off x="3789511" y="4538392"/>
                <a:ext cx="4263136" cy="14437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>
                    <a:solidFill>
                      <a:srgbClr val="FFFF00"/>
                    </a:solidFill>
                  </a:rPr>
                  <a:t>Processing:</a:t>
                </a:r>
                <a:br>
                  <a:rPr lang="en-US" b="1" dirty="0">
                    <a:solidFill>
                      <a:schemeClr val="bg1"/>
                    </a:solidFill>
                  </a:rPr>
                </a:br>
                <a:r>
                  <a:rPr lang="en-US" b="1" dirty="0">
                    <a:solidFill>
                      <a:schemeClr val="bg1"/>
                    </a:solidFill>
                  </a:rPr>
                  <a:t>Calculate the average</a:t>
                </a:r>
              </a:p>
              <a:p>
                <a:pPr>
                  <a:buNone/>
                </a:pPr>
                <a:endParaRPr lang="en-US" b="1" dirty="0">
                  <a:solidFill>
                    <a:schemeClr val="bg1"/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𝟐𝟑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𝟐𝟒</m:t>
                          </m:r>
                        </m:num>
                        <m:den>
                          <m:r>
                            <a:rPr lang="en-US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12FB6D-2B74-F8C1-0CE9-6BE7176EF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511" y="4538392"/>
                <a:ext cx="4263136" cy="1443793"/>
              </a:xfrm>
              <a:prstGeom prst="rect">
                <a:avLst/>
              </a:prstGeom>
              <a:blipFill>
                <a:blip r:embed="rId3"/>
                <a:stretch>
                  <a:fillRect l="-1288" t="-2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93AE539-C2EB-41CD-DB03-E55831B204CB}"/>
              </a:ext>
            </a:extLst>
          </p:cNvPr>
          <p:cNvSpPr txBox="1"/>
          <p:nvPr/>
        </p:nvSpPr>
        <p:spPr>
          <a:xfrm>
            <a:off x="7845137" y="4608575"/>
            <a:ext cx="18576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Output:</a:t>
            </a:r>
            <a:br>
              <a:rPr lang="en-US" b="1" dirty="0">
                <a:solidFill>
                  <a:srgbClr val="FFFF00"/>
                </a:solidFill>
              </a:rPr>
            </a:br>
            <a:endParaRPr lang="en-US" b="1" dirty="0">
              <a:solidFill>
                <a:srgbClr val="FFFF00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22 °C</a:t>
            </a:r>
          </a:p>
        </p:txBody>
      </p:sp>
    </p:spTree>
    <p:extLst>
      <p:ext uri="{BB962C8B-B14F-4D97-AF65-F5344CB8AC3E}">
        <p14:creationId xmlns:p14="http://schemas.microsoft.com/office/powerpoint/2010/main" val="245428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computer system has two halves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400" dirty="0">
              <a:solidFill>
                <a:srgbClr val="FFFF00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parts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6517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(CPU) and graphics </a:t>
            </a:r>
            <a:r>
              <a:rPr lang="en-US" sz="20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r>
              <a:rPr lang="en-US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(GPU)</a:t>
            </a:r>
            <a:endParaRPr lang="en-US" b="1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RAM, and storage (SSD / HDD)</a:t>
            </a:r>
            <a:endParaRPr lang="en-US" b="1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Motherboard and buses linking everything</a:t>
            </a:r>
            <a:endParaRPr lang="en-US" b="1" dirty="0"/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Peripherals: keyboard, mouse, screen, printer, lab sensors</a:t>
            </a:r>
            <a:endParaRPr lang="en-US" b="1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(BIOS/UEFI) that starts the machine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system: Windows, Linux, macOS, Android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browser, spreadsheet, simulation tools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 algn="just">
              <a:spcAft>
                <a:spcPts val="1000"/>
              </a:spcAft>
              <a:buSzPct val="10000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programs, written in a language such as Python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5404" y="12798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71269" y="652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A8E34-AB15-375F-0E40-CC84C0C325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89"/>
          <a:stretch>
            <a:fillRect/>
          </a:stretch>
        </p:blipFill>
        <p:spPr>
          <a:xfrm>
            <a:off x="171269" y="829733"/>
            <a:ext cx="11634257" cy="5537200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090C5847-BDE0-3C22-CABF-5F2AD900DE32}"/>
              </a:ext>
            </a:extLst>
          </p:cNvPr>
          <p:cNvSpPr txBox="1"/>
          <p:nvPr/>
        </p:nvSpPr>
        <p:spPr>
          <a:xfrm>
            <a:off x="285404" y="24072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modern computer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2095D-D911-3676-95E1-36168EC58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FAE1A7-C027-80E4-A661-FA54DBD06183}"/>
              </a:ext>
            </a:extLst>
          </p:cNvPr>
          <p:cNvSpPr txBox="1"/>
          <p:nvPr/>
        </p:nvSpPr>
        <p:spPr>
          <a:xfrm>
            <a:off x="19812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90950A-8167-A901-0487-18C96B4966F3}"/>
              </a:ext>
            </a:extLst>
          </p:cNvPr>
          <p:cNvSpPr txBox="1"/>
          <p:nvPr/>
        </p:nvSpPr>
        <p:spPr>
          <a:xfrm>
            <a:off x="320040" y="51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 and their role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CB91A5-16A0-1D2F-4B45-8F5114944E21}"/>
              </a:ext>
            </a:extLst>
          </p:cNvPr>
          <p:cNvSpPr txBox="1"/>
          <p:nvPr/>
        </p:nvSpPr>
        <p:spPr>
          <a:xfrm>
            <a:off x="19812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83407A-4F1A-91FB-9989-E57E1FE84EE5}"/>
              </a:ext>
            </a:extLst>
          </p:cNvPr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AF7FEA0-87C8-3824-B02F-FF08C0AD2B5A}"/>
              </a:ext>
            </a:extLst>
          </p:cNvPr>
          <p:cNvSpPr/>
          <p:nvPr/>
        </p:nvSpPr>
        <p:spPr>
          <a:xfrm>
            <a:off x="548640" y="1463040"/>
            <a:ext cx="3535680" cy="2103120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38BC43-202E-28F8-F1A2-1BE3ADD19F17}"/>
              </a:ext>
            </a:extLst>
          </p:cNvPr>
          <p:cNvSpPr txBox="1"/>
          <p:nvPr/>
        </p:nvSpPr>
        <p:spPr>
          <a:xfrm>
            <a:off x="731520" y="1600200"/>
            <a:ext cx="3169920" cy="3657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1C33E6-1E46-86FE-5CD7-F5A5AE726AF2}"/>
              </a:ext>
            </a:extLst>
          </p:cNvPr>
          <p:cNvSpPr txBox="1"/>
          <p:nvPr/>
        </p:nvSpPr>
        <p:spPr>
          <a:xfrm>
            <a:off x="731520" y="2057400"/>
            <a:ext cx="3169920" cy="137160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Decodes and executes instructions; modern chips have several cores working in parallel.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D6718D6-B262-3815-0D06-86FA4E3FECF4}"/>
              </a:ext>
            </a:extLst>
          </p:cNvPr>
          <p:cNvSpPr/>
          <p:nvPr/>
        </p:nvSpPr>
        <p:spPr>
          <a:xfrm>
            <a:off x="8077200" y="1463040"/>
            <a:ext cx="3535680" cy="2103120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16F159-17CB-1642-11EF-D050D04982CE}"/>
              </a:ext>
            </a:extLst>
          </p:cNvPr>
          <p:cNvSpPr txBox="1"/>
          <p:nvPr/>
        </p:nvSpPr>
        <p:spPr>
          <a:xfrm>
            <a:off x="8260080" y="1600200"/>
            <a:ext cx="3169920" cy="3657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Storage (SSD/HDD)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876CE4B-EAAA-31C2-CD16-B62A8DC82523}"/>
              </a:ext>
            </a:extLst>
          </p:cNvPr>
          <p:cNvSpPr txBox="1"/>
          <p:nvPr/>
        </p:nvSpPr>
        <p:spPr>
          <a:xfrm>
            <a:off x="8260080" y="2057400"/>
            <a:ext cx="3169920" cy="137160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memory for files and installed programs. SSDs are much faster than HDDs.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3A8B859-3ECC-3822-110D-E56C226BC052}"/>
              </a:ext>
            </a:extLst>
          </p:cNvPr>
          <p:cNvSpPr/>
          <p:nvPr/>
        </p:nvSpPr>
        <p:spPr>
          <a:xfrm>
            <a:off x="4312920" y="3794760"/>
            <a:ext cx="3535680" cy="2103120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7E7946D-1846-6642-8A9E-7D353EEE9E2E}"/>
              </a:ext>
            </a:extLst>
          </p:cNvPr>
          <p:cNvSpPr txBox="1"/>
          <p:nvPr/>
        </p:nvSpPr>
        <p:spPr>
          <a:xfrm>
            <a:off x="4495800" y="3931920"/>
            <a:ext cx="3169920" cy="3657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Motherboard + bus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22B465F-8F90-CDC2-5828-4B3362339B5A}"/>
              </a:ext>
            </a:extLst>
          </p:cNvPr>
          <p:cNvSpPr txBox="1"/>
          <p:nvPr/>
        </p:nvSpPr>
        <p:spPr>
          <a:xfrm>
            <a:off x="4495800" y="4389120"/>
            <a:ext cx="3169920" cy="137160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Circuit board that supplies power and carries data between all components.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3666A7C-BDE6-A465-F0E7-A2F33E14CBFE}"/>
              </a:ext>
            </a:extLst>
          </p:cNvPr>
          <p:cNvSpPr/>
          <p:nvPr/>
        </p:nvSpPr>
        <p:spPr>
          <a:xfrm>
            <a:off x="8077199" y="3794760"/>
            <a:ext cx="3894667" cy="2103120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C1E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F6CDB23-9F9D-969E-F260-6B1324D0E205}"/>
              </a:ext>
            </a:extLst>
          </p:cNvPr>
          <p:cNvSpPr txBox="1"/>
          <p:nvPr/>
        </p:nvSpPr>
        <p:spPr>
          <a:xfrm>
            <a:off x="8260080" y="3931920"/>
            <a:ext cx="3169920" cy="3657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Firmware (UEFI)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BA2D065-8D66-F024-14F3-25DA6723B378}"/>
              </a:ext>
            </a:extLst>
          </p:cNvPr>
          <p:cNvSpPr txBox="1"/>
          <p:nvPr/>
        </p:nvSpPr>
        <p:spPr>
          <a:xfrm>
            <a:off x="8229599" y="4272280"/>
            <a:ext cx="3742267" cy="15087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lvl="0" algn="just"/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Software built into hardware to make it work.</a:t>
            </a:r>
          </a:p>
          <a:p>
            <a:pPr lvl="0" algn="just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UEFI/BIOS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is just the most familiar example, since its job is literally to wake up the hardware and hand control to the operating system.</a:t>
            </a:r>
            <a:endParaRPr kumimoji="0" lang="en-US" sz="1600" b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DB00C8E5-91C0-CA71-3737-BE809221D204}"/>
              </a:ext>
            </a:extLst>
          </p:cNvPr>
          <p:cNvSpPr/>
          <p:nvPr/>
        </p:nvSpPr>
        <p:spPr>
          <a:xfrm>
            <a:off x="548640" y="3794760"/>
            <a:ext cx="3535680" cy="2103120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550A9950-DBFA-5246-B8ED-7B6C073B2BE3}"/>
              </a:ext>
            </a:extLst>
          </p:cNvPr>
          <p:cNvSpPr txBox="1"/>
          <p:nvPr/>
        </p:nvSpPr>
        <p:spPr>
          <a:xfrm>
            <a:off x="731520" y="3931920"/>
            <a:ext cx="3169920" cy="3657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9585A3B5-855C-6EB1-FBA1-C55B91DB3775}"/>
              </a:ext>
            </a:extLst>
          </p:cNvPr>
          <p:cNvSpPr txBox="1"/>
          <p:nvPr/>
        </p:nvSpPr>
        <p:spPr>
          <a:xfrm>
            <a:off x="731520" y="4389120"/>
            <a:ext cx="3169920" cy="137160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for massively parallel work: graphics, image processing, simulation, machine learning.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71A0B563-82BC-D5BA-B303-00A81C82C81B}"/>
              </a:ext>
            </a:extLst>
          </p:cNvPr>
          <p:cNvSpPr/>
          <p:nvPr/>
        </p:nvSpPr>
        <p:spPr>
          <a:xfrm>
            <a:off x="4312920" y="1463040"/>
            <a:ext cx="3535680" cy="2103120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897C72F7-E65A-1585-C593-16E23DD983BB}"/>
              </a:ext>
            </a:extLst>
          </p:cNvPr>
          <p:cNvSpPr txBox="1"/>
          <p:nvPr/>
        </p:nvSpPr>
        <p:spPr>
          <a:xfrm>
            <a:off x="4495800" y="1600200"/>
            <a:ext cx="3169920" cy="36576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EE7A9AD8-6B2F-F8C3-2610-F450383A3680}"/>
              </a:ext>
            </a:extLst>
          </p:cNvPr>
          <p:cNvSpPr txBox="1"/>
          <p:nvPr/>
        </p:nvSpPr>
        <p:spPr>
          <a:xfrm>
            <a:off x="4495800" y="2057400"/>
            <a:ext cx="3169920" cy="1371600"/>
          </a:xfrm>
          <a:prstGeom prst="round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Very fast working memory. Holds running programs and data; loses content when the power is off.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2518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4">
            <a:extLst>
              <a:ext uri="{FF2B5EF4-FFF2-40B4-BE49-F238E27FC236}">
                <a16:creationId xmlns:a16="http://schemas.microsoft.com/office/drawing/2014/main" id="{D0772BF3-6886-1A16-E931-3E1DE47DC850}"/>
              </a:ext>
            </a:extLst>
          </p:cNvPr>
          <p:cNvSpPr/>
          <p:nvPr/>
        </p:nvSpPr>
        <p:spPr>
          <a:xfrm>
            <a:off x="548639" y="1463039"/>
            <a:ext cx="5767493" cy="4399165"/>
          </a:xfrm>
          <a:prstGeom prst="roundRect">
            <a:avLst>
              <a:gd name="adj" fmla="val 4348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1C10BEB-DC87-90BD-CB49-D8B853D8C586}"/>
              </a:ext>
            </a:extLst>
          </p:cNvPr>
          <p:cNvSpPr txBox="1"/>
          <p:nvPr/>
        </p:nvSpPr>
        <p:spPr>
          <a:xfrm>
            <a:off x="548640" y="767195"/>
            <a:ext cx="478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</a:t>
            </a:r>
            <a:r>
              <a:rPr lang="en-US" sz="2000" dirty="0"/>
              <a:t>(Central Processing Unit / </a:t>
            </a:r>
            <a:r>
              <a:rPr lang="en-US" sz="2000" dirty="0" err="1"/>
              <a:t>Processeur</a:t>
            </a:r>
            <a:r>
              <a:rPr lang="en-US" sz="2000" dirty="0"/>
              <a:t>)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8426F59-656E-19B9-A5F7-EBAE130935D2}"/>
              </a:ext>
            </a:extLst>
          </p:cNvPr>
          <p:cNvSpPr txBox="1"/>
          <p:nvPr/>
        </p:nvSpPr>
        <p:spPr>
          <a:xfrm>
            <a:off x="731520" y="1596962"/>
            <a:ext cx="536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b="1" dirty="0"/>
              <a:t>Core Role:</a:t>
            </a:r>
            <a:r>
              <a:rPr lang="en-US" dirty="0"/>
              <a:t> The primary "brain" of the computer that executes program instructions and processes system data.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Key Components:</a:t>
            </a:r>
          </a:p>
          <a:p>
            <a:pPr lvl="0"/>
            <a:endParaRPr lang="en-US" dirty="0"/>
          </a:p>
          <a:p>
            <a:pPr lvl="1"/>
            <a:r>
              <a:rPr lang="en-US" b="1" dirty="0"/>
              <a:t>Control Unit (CU):</a:t>
            </a:r>
            <a:r>
              <a:rPr lang="en-US" dirty="0"/>
              <a:t> Directs operations, manages data flow, and decodes instructions.</a:t>
            </a:r>
          </a:p>
          <a:p>
            <a:pPr lvl="1"/>
            <a:r>
              <a:rPr lang="en-US" b="1" dirty="0"/>
              <a:t>Arithmetic Logic Unit (ALU):</a:t>
            </a:r>
            <a:r>
              <a:rPr lang="en-US" dirty="0"/>
              <a:t> Performs mathematical calculations and logical decisions.</a:t>
            </a:r>
          </a:p>
          <a:p>
            <a:pPr lvl="1"/>
            <a:r>
              <a:rPr lang="en-US" b="1" dirty="0"/>
              <a:t>Cache Memory (L1/L2/L3):</a:t>
            </a:r>
            <a:r>
              <a:rPr lang="en-US" dirty="0"/>
              <a:t> Ultra-fast onboard memory for immediate data retrieval.</a:t>
            </a:r>
          </a:p>
          <a:p>
            <a:pPr lvl="1"/>
            <a:endParaRPr lang="en-US" dirty="0"/>
          </a:p>
          <a:p>
            <a:pPr lvl="0"/>
            <a:r>
              <a:rPr lang="en-US" b="1" dirty="0"/>
              <a:t>Instruction Cycle:</a:t>
            </a:r>
            <a:r>
              <a:rPr lang="en-US" dirty="0"/>
              <a:t> Continuously operates on a </a:t>
            </a:r>
            <a:r>
              <a:rPr lang="en-US" b="1" dirty="0"/>
              <a:t>Fetch → Decode → Execute</a:t>
            </a:r>
            <a:r>
              <a:rPr lang="en-US" dirty="0"/>
              <a:t> loop to run tasks.</a:t>
            </a:r>
          </a:p>
        </p:txBody>
      </p:sp>
      <p:pic>
        <p:nvPicPr>
          <p:cNvPr id="15" name="Picture 14" descr="Intel to Raise CPU Prices, including 14th Gen Core &quot;Raptor Lake Refresh ...">
            <a:extLst>
              <a:ext uri="{FF2B5EF4-FFF2-40B4-BE49-F238E27FC236}">
                <a16:creationId xmlns:a16="http://schemas.microsoft.com/office/drawing/2014/main" id="{65E9873E-790E-2431-FAAE-A25705AB4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454" y="4164676"/>
            <a:ext cx="4111105" cy="2327564"/>
          </a:xfrm>
          <a:prstGeom prst="rect">
            <a:avLst/>
          </a:prstGeom>
        </p:spPr>
      </p:pic>
      <p:pic>
        <p:nvPicPr>
          <p:cNvPr id="17" name="Picture 16" descr="Central Processing Unit (cpu)">
            <a:extLst>
              <a:ext uri="{FF2B5EF4-FFF2-40B4-BE49-F238E27FC236}">
                <a16:creationId xmlns:a16="http://schemas.microsoft.com/office/drawing/2014/main" id="{C8B01046-8A63-13AC-9E79-1F6B00337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270" y="653857"/>
            <a:ext cx="5333998" cy="325781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F2E680E-46F2-9459-8E42-4F7CD08A9BD5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876744-3D20-6983-498B-7BF7B02D553F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31879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3">
            <a:extLst>
              <a:ext uri="{FF2B5EF4-FFF2-40B4-BE49-F238E27FC236}">
                <a16:creationId xmlns:a16="http://schemas.microsoft.com/office/drawing/2014/main" id="{951BCFD7-320E-CA7F-B88C-7F33AB158389}"/>
              </a:ext>
            </a:extLst>
          </p:cNvPr>
          <p:cNvSpPr/>
          <p:nvPr/>
        </p:nvSpPr>
        <p:spPr>
          <a:xfrm>
            <a:off x="142738" y="1984693"/>
            <a:ext cx="35356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ECD13539-078E-1A17-493B-97DB315D2F62}"/>
              </a:ext>
            </a:extLst>
          </p:cNvPr>
          <p:cNvSpPr txBox="1"/>
          <p:nvPr/>
        </p:nvSpPr>
        <p:spPr>
          <a:xfrm>
            <a:off x="325120" y="808413"/>
            <a:ext cx="404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</a:t>
            </a:r>
            <a:r>
              <a:rPr lang="en-US" sz="2000" dirty="0">
                <a:solidFill>
                  <a:srgbClr val="002060"/>
                </a:solidFill>
              </a:rPr>
              <a:t>(Graphics Processing Unit)</a:t>
            </a:r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263B13D9-96B0-0274-7D88-6199DDDE354F}"/>
              </a:ext>
            </a:extLst>
          </p:cNvPr>
          <p:cNvSpPr txBox="1"/>
          <p:nvPr/>
        </p:nvSpPr>
        <p:spPr>
          <a:xfrm>
            <a:off x="325120" y="1616526"/>
            <a:ext cx="646514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b="1" dirty="0"/>
              <a:t>Core Role:</a:t>
            </a:r>
            <a:r>
              <a:rPr lang="en-US" dirty="0"/>
              <a:t> Specialized processor designed to rapidly calculate, manipulate, and render visual data, 3D graphics, and video output.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Parallel Architecture:</a:t>
            </a:r>
            <a:r>
              <a:rPr lang="en-US" dirty="0"/>
              <a:t> Features thousands of smaller, efficient cores optimized for executing multiple mathematical operations simultaneously.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Key Applications:</a:t>
            </a:r>
            <a:r>
              <a:rPr lang="en-US" dirty="0"/>
              <a:t> Accelerates 3D rendering, video editing, scientific simulations, molecular modeling, and AI/machine learning workloads.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Types:</a:t>
            </a:r>
            <a:endParaRPr lang="en-US" dirty="0"/>
          </a:p>
          <a:p>
            <a:pPr lvl="1"/>
            <a:r>
              <a:rPr lang="en-US" b="1" dirty="0"/>
              <a:t>Integrated:</a:t>
            </a:r>
            <a:r>
              <a:rPr lang="en-US" dirty="0"/>
              <a:t> Embedded directly within the CPU, sharing system RAM for lighter tasks.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Discrete/Dedicated:</a:t>
            </a:r>
            <a:r>
              <a:rPr lang="en-US" dirty="0"/>
              <a:t> Standalone expansion card equipped with its own high-speed VRAM for high-performance computing.</a:t>
            </a:r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9" name="Picture 8" descr="netjames - Blog">
            <a:extLst>
              <a:ext uri="{FF2B5EF4-FFF2-40B4-BE49-F238E27FC236}">
                <a16:creationId xmlns:a16="http://schemas.microsoft.com/office/drawing/2014/main" id="{12669E47-019D-02FE-294A-B060343EA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648" y="378260"/>
            <a:ext cx="5076613" cy="31079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828AFE-D607-0C4E-C913-832E70B1C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284" y="3684270"/>
            <a:ext cx="5076613" cy="292227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D2BFE11-449E-0382-548D-6D47A8B90138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37E4789-30EB-2D76-7835-02B915A19A2A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89705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7">
            <a:extLst>
              <a:ext uri="{FF2B5EF4-FFF2-40B4-BE49-F238E27FC236}">
                <a16:creationId xmlns:a16="http://schemas.microsoft.com/office/drawing/2014/main" id="{FD3FBD3B-4890-A056-125B-61DEC4FDD993}"/>
              </a:ext>
            </a:extLst>
          </p:cNvPr>
          <p:cNvSpPr/>
          <p:nvPr/>
        </p:nvSpPr>
        <p:spPr>
          <a:xfrm>
            <a:off x="308187" y="2060785"/>
            <a:ext cx="5787813" cy="3877274"/>
          </a:xfrm>
          <a:prstGeom prst="roundRect">
            <a:avLst>
              <a:gd name="adj" fmla="val 4348"/>
            </a:avLst>
          </a:prstGeom>
          <a:solidFill>
            <a:srgbClr val="002060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53D3FC3B-277D-E47C-A82A-0005C9380243}"/>
              </a:ext>
            </a:extLst>
          </p:cNvPr>
          <p:cNvSpPr txBox="1"/>
          <p:nvPr/>
        </p:nvSpPr>
        <p:spPr>
          <a:xfrm>
            <a:off x="365759" y="919941"/>
            <a:ext cx="4240107" cy="53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</a:t>
            </a:r>
            <a:r>
              <a:rPr lang="en-US" sz="2000" dirty="0">
                <a:solidFill>
                  <a:srgbClr val="002060"/>
                </a:solidFill>
              </a:rPr>
              <a:t>(Random Access Memory)</a:t>
            </a: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CCE0DD64-8C1B-76CC-6EAC-367630A4F25D}"/>
              </a:ext>
            </a:extLst>
          </p:cNvPr>
          <p:cNvSpPr txBox="1"/>
          <p:nvPr/>
        </p:nvSpPr>
        <p:spPr>
          <a:xfrm>
            <a:off x="548639" y="2236893"/>
            <a:ext cx="53780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Core Role: </a:t>
            </a:r>
            <a:r>
              <a:rPr lang="en-US" dirty="0">
                <a:solidFill>
                  <a:schemeClr val="bg1"/>
                </a:solidFill>
              </a:rPr>
              <a:t>High-speed primary memory that temporarily holds active programs and data currently being processed by the CPU.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Key Feature (Volatility): </a:t>
            </a:r>
            <a:r>
              <a:rPr lang="en-US" dirty="0">
                <a:solidFill>
                  <a:schemeClr val="bg1"/>
                </a:solidFill>
              </a:rPr>
              <a:t>Volatile storage—all data is cleared immediately when the power is turned off.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Random Access: Allows the CPU to access any memory location directly with near-instantaneous, consistent speed.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System Impact: </a:t>
            </a:r>
            <a:r>
              <a:rPr lang="en-US" dirty="0">
                <a:solidFill>
                  <a:schemeClr val="bg1"/>
                </a:solidFill>
              </a:rPr>
              <a:t>Higher capacity enables smooth multitasking and prevents performance bottlenecks during heavy workloads.</a:t>
            </a:r>
          </a:p>
        </p:txBody>
      </p:sp>
      <p:pic>
        <p:nvPicPr>
          <p:cNvPr id="10" name="Picture 9" descr="Computer RAM, System, Main Memory, Random Access Memory, Onboard ...">
            <a:extLst>
              <a:ext uri="{FF2B5EF4-FFF2-40B4-BE49-F238E27FC236}">
                <a16:creationId xmlns:a16="http://schemas.microsoft.com/office/drawing/2014/main" id="{52F671B2-7E4E-EFA6-EEC7-EC1649118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37" y="8560"/>
            <a:ext cx="5520264" cy="3703848"/>
          </a:xfrm>
          <a:prstGeom prst="rect">
            <a:avLst/>
          </a:prstGeom>
        </p:spPr>
      </p:pic>
      <p:pic>
        <p:nvPicPr>
          <p:cNvPr id="9" name="Picture 8" descr="Computer memory board editorial stock image. Image of components - 89578874">
            <a:extLst>
              <a:ext uri="{FF2B5EF4-FFF2-40B4-BE49-F238E27FC236}">
                <a16:creationId xmlns:a16="http://schemas.microsoft.com/office/drawing/2014/main" id="{A0721508-BD8B-41A6-BB94-2FFD857BE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15"/>
          <a:stretch>
            <a:fillRect/>
          </a:stretch>
        </p:blipFill>
        <p:spPr>
          <a:xfrm>
            <a:off x="6671737" y="3143597"/>
            <a:ext cx="5520264" cy="370384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296C874-73BE-4444-6371-C11687EB6C53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4B06C0A-A9AE-C062-476C-E27446F0F304}"/>
              </a:ext>
            </a:extLst>
          </p:cNvPr>
          <p:cNvSpPr txBox="1"/>
          <p:nvPr/>
        </p:nvSpPr>
        <p:spPr>
          <a:xfrm>
            <a:off x="308187" y="6446520"/>
            <a:ext cx="6092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044221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>
            <a:extLst>
              <a:ext uri="{FF2B5EF4-FFF2-40B4-BE49-F238E27FC236}">
                <a16:creationId xmlns:a16="http://schemas.microsoft.com/office/drawing/2014/main" id="{AA24799F-387D-85DD-CEA5-C69EFC500B30}"/>
              </a:ext>
            </a:extLst>
          </p:cNvPr>
          <p:cNvSpPr/>
          <p:nvPr/>
        </p:nvSpPr>
        <p:spPr>
          <a:xfrm>
            <a:off x="193962" y="1325879"/>
            <a:ext cx="6816437" cy="4888653"/>
          </a:xfrm>
          <a:prstGeom prst="roundRect">
            <a:avLst>
              <a:gd name="adj" fmla="val 4348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473C141D-D55D-16A6-9001-30E06DDD6698}"/>
              </a:ext>
            </a:extLst>
          </p:cNvPr>
          <p:cNvSpPr txBox="1"/>
          <p:nvPr/>
        </p:nvSpPr>
        <p:spPr>
          <a:xfrm>
            <a:off x="376843" y="82296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(SSD/HDD)</a:t>
            </a:r>
            <a:endParaRPr lang="en-US" sz="17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49CF35CC-4B17-B2BA-1745-689E3972FA56}"/>
              </a:ext>
            </a:extLst>
          </p:cNvPr>
          <p:cNvSpPr txBox="1"/>
          <p:nvPr/>
        </p:nvSpPr>
        <p:spPr>
          <a:xfrm>
            <a:off x="376843" y="1440181"/>
            <a:ext cx="66335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Role: </a:t>
            </a:r>
          </a:p>
          <a:p>
            <a:pPr marL="0" indent="0">
              <a:buNone/>
            </a:pPr>
            <a:r>
              <a:rPr lang="en-US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 secondary memory that permanently holds the operating system, applications, and user files even when powered off.</a:t>
            </a:r>
          </a:p>
          <a:p>
            <a:pPr marL="0" indent="0">
              <a:buNone/>
            </a:pPr>
            <a:endParaRPr lang="en-US" dirty="0">
              <a:solidFill>
                <a:srgbClr val="5B6B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(Solid-State Drive):</a:t>
            </a:r>
          </a:p>
          <a:p>
            <a:pPr marL="0" indent="0">
              <a:buNone/>
            </a:pPr>
            <a:r>
              <a:rPr lang="en-US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microchip flash memory with no moving parts.</a:t>
            </a:r>
          </a:p>
          <a:p>
            <a:pPr marL="0" indent="0">
              <a:buNone/>
            </a:pPr>
            <a:r>
              <a:rPr lang="en-US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ultra-fast read/write speeds, low power consumption, and high physical durability.</a:t>
            </a:r>
          </a:p>
          <a:p>
            <a:pPr marL="0" indent="0">
              <a:buNone/>
            </a:pPr>
            <a:endParaRPr lang="en-US" dirty="0">
              <a:solidFill>
                <a:srgbClr val="5B6B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(Hard Disk Drive):</a:t>
            </a:r>
          </a:p>
          <a:p>
            <a:pPr marL="0" indent="0">
              <a:buNone/>
            </a:pPr>
            <a:r>
              <a:rPr lang="en-US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spinning magnetic platters and mechanical read/write heads.</a:t>
            </a:r>
          </a:p>
          <a:p>
            <a:pPr marL="0" indent="0">
              <a:buNone/>
            </a:pPr>
            <a:r>
              <a:rPr lang="en-US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high storage capacity at a lower cost per gigabyte, though at significantly slower speeds.</a:t>
            </a:r>
          </a:p>
          <a:p>
            <a:pPr marL="0" indent="0">
              <a:buNone/>
            </a:pPr>
            <a:endParaRPr lang="en-US" b="1" dirty="0">
              <a:solidFill>
                <a:srgbClr val="5B6B7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Comparison: </a:t>
            </a:r>
            <a:r>
              <a:rPr lang="en-US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SSDs prioritize system speed and performance, whereas HDDs excel in high-volume, economical data archiving.</a:t>
            </a:r>
          </a:p>
        </p:txBody>
      </p:sp>
      <p:pic>
        <p:nvPicPr>
          <p:cNvPr id="8" name="Picture 7" descr="Solid State Disk Mechanism at George Sorensen blog">
            <a:extLst>
              <a:ext uri="{FF2B5EF4-FFF2-40B4-BE49-F238E27FC236}">
                <a16:creationId xmlns:a16="http://schemas.microsoft.com/office/drawing/2014/main" id="{796E8F4C-51D8-A184-0092-CAE1769F2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15"/>
          <a:stretch>
            <a:fillRect/>
          </a:stretch>
        </p:blipFill>
        <p:spPr>
          <a:xfrm>
            <a:off x="7292417" y="89316"/>
            <a:ext cx="4804756" cy="3708400"/>
          </a:xfrm>
          <a:prstGeom prst="rect">
            <a:avLst/>
          </a:prstGeom>
        </p:spPr>
      </p:pic>
      <p:pic>
        <p:nvPicPr>
          <p:cNvPr id="9" name="Picture 8" descr="HDD vs. SSD: A Complete Laptop Storage Guide - Upgrades And Options">
            <a:extLst>
              <a:ext uri="{FF2B5EF4-FFF2-40B4-BE49-F238E27FC236}">
                <a16:creationId xmlns:a16="http://schemas.microsoft.com/office/drawing/2014/main" id="{B8FB4DBD-7DA4-1F09-96E1-97F53DC51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05" y="3797716"/>
            <a:ext cx="4385733" cy="260520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968D4B7-9813-257D-C60A-9163A550B6E6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3A96ACC-256A-F3C3-73CC-C00C83F2EB6C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7328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6">
            <a:extLst>
              <a:ext uri="{FF2B5EF4-FFF2-40B4-BE49-F238E27FC236}">
                <a16:creationId xmlns:a16="http://schemas.microsoft.com/office/drawing/2014/main" id="{4493C580-B23E-6CBC-EE66-21EC0CC54949}"/>
              </a:ext>
            </a:extLst>
          </p:cNvPr>
          <p:cNvSpPr/>
          <p:nvPr/>
        </p:nvSpPr>
        <p:spPr>
          <a:xfrm>
            <a:off x="295101" y="2718724"/>
            <a:ext cx="5580765" cy="2103120"/>
          </a:xfrm>
          <a:prstGeom prst="roundRect">
            <a:avLst>
              <a:gd name="adj" fmla="val 4348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618A2D53-6A78-7BD7-5160-44FE76B1B89B}"/>
              </a:ext>
            </a:extLst>
          </p:cNvPr>
          <p:cNvSpPr txBox="1"/>
          <p:nvPr/>
        </p:nvSpPr>
        <p:spPr>
          <a:xfrm>
            <a:off x="295102" y="1077883"/>
            <a:ext cx="5800898" cy="683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Motherboard + bus (</a:t>
            </a:r>
            <a:r>
              <a:rPr lang="en-US" dirty="0"/>
              <a:t>la </a:t>
            </a:r>
            <a:r>
              <a:rPr lang="en-US" b="1" dirty="0"/>
              <a:t>carte mère</a:t>
            </a:r>
            <a:r>
              <a:rPr lang="en-US" dirty="0"/>
              <a:t> et les </a:t>
            </a:r>
            <a:r>
              <a:rPr lang="en-US" b="1" dirty="0"/>
              <a:t>bus </a:t>
            </a:r>
            <a:r>
              <a:rPr lang="en-US" b="1" dirty="0" err="1"/>
              <a:t>informatiques</a:t>
            </a:r>
            <a:r>
              <a:rPr lang="en-US" dirty="0"/>
              <a:t>. )</a:t>
            </a:r>
          </a:p>
        </p:txBody>
      </p:sp>
      <p:sp>
        <p:nvSpPr>
          <p:cNvPr id="7" name="Text 18">
            <a:extLst>
              <a:ext uri="{FF2B5EF4-FFF2-40B4-BE49-F238E27FC236}">
                <a16:creationId xmlns:a16="http://schemas.microsoft.com/office/drawing/2014/main" id="{6D458797-DDDF-F4EE-9CBF-4BE1B00D6064}"/>
              </a:ext>
            </a:extLst>
          </p:cNvPr>
          <p:cNvSpPr txBox="1"/>
          <p:nvPr/>
        </p:nvSpPr>
        <p:spPr>
          <a:xfrm>
            <a:off x="477982" y="2885517"/>
            <a:ext cx="53978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b="1" dirty="0"/>
              <a:t>Motherboard:</a:t>
            </a:r>
            <a:r>
              <a:rPr lang="en-US" dirty="0"/>
              <a:t> The main circuit board that connects and powers the CPU, RAM, and storage devices. 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System Bus:</a:t>
            </a:r>
            <a:r>
              <a:rPr lang="en-US" dirty="0"/>
              <a:t> Data highways (conductive tracks) that transfer signals between components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37C9B4-E156-2C80-3EBA-EE6121207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134" y="0"/>
            <a:ext cx="5875865" cy="545253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5FFA624-FB2E-D497-855D-579476CA34FD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58C7D9C-4106-EA78-E229-C67BCACB3427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167339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0">
            <a:extLst>
              <a:ext uri="{FF2B5EF4-FFF2-40B4-BE49-F238E27FC236}">
                <a16:creationId xmlns:a16="http://schemas.microsoft.com/office/drawing/2014/main" id="{B4F202C3-D998-3561-B0F9-DA362E03D500}"/>
              </a:ext>
            </a:extLst>
          </p:cNvPr>
          <p:cNvSpPr txBox="1"/>
          <p:nvPr/>
        </p:nvSpPr>
        <p:spPr>
          <a:xfrm>
            <a:off x="292945" y="366752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(UEFI)</a:t>
            </a:r>
            <a:endParaRPr lang="en-US" dirty="0"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D785631C-0238-6833-C93E-C0F10BFAD665}"/>
              </a:ext>
            </a:extLst>
          </p:cNvPr>
          <p:cNvSpPr txBox="1"/>
          <p:nvPr/>
        </p:nvSpPr>
        <p:spPr>
          <a:xfrm>
            <a:off x="233677" y="4427486"/>
            <a:ext cx="63533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/>
              <a:t>UEFI stands for </a:t>
            </a:r>
            <a:r>
              <a:rPr lang="en-US" sz="1600" b="1" dirty="0"/>
              <a:t>Unified Extensible Firmware Interface (Interface </a:t>
            </a:r>
            <a:r>
              <a:rPr lang="en-US" sz="1600" b="1" dirty="0" err="1"/>
              <a:t>micrologicielle</a:t>
            </a:r>
            <a:r>
              <a:rPr lang="en-US" sz="1600" b="1" dirty="0"/>
              <a:t> extensible </a:t>
            </a:r>
            <a:r>
              <a:rPr lang="en-US" sz="1600" b="1" dirty="0" err="1"/>
              <a:t>unifiée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dirty="0"/>
              <a:t> It is the modern industry standard for PC firmware, developed to replace the older </a:t>
            </a:r>
            <a:r>
              <a:rPr lang="en-US" sz="1600" b="1" dirty="0"/>
              <a:t>BIOS</a:t>
            </a:r>
            <a:r>
              <a:rPr lang="en-US" sz="1600" dirty="0"/>
              <a:t> (Basic Input/Output System) standard.</a:t>
            </a:r>
            <a:endParaRPr lang="en-US" sz="1500" dirty="0"/>
          </a:p>
        </p:txBody>
      </p:sp>
      <p:pic>
        <p:nvPicPr>
          <p:cNvPr id="8" name="Picture 7" descr="What Is UEFI ? | Difference Between BIOS And UEFI | New UEFI Firmware">
            <a:extLst>
              <a:ext uri="{FF2B5EF4-FFF2-40B4-BE49-F238E27FC236}">
                <a16:creationId xmlns:a16="http://schemas.microsoft.com/office/drawing/2014/main" id="{FC5C2F2C-BE2A-BBB6-9B09-17499E643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222" y="0"/>
            <a:ext cx="5185778" cy="3458873"/>
          </a:xfrm>
          <a:prstGeom prst="rect">
            <a:avLst/>
          </a:prstGeom>
        </p:spPr>
      </p:pic>
      <p:pic>
        <p:nvPicPr>
          <p:cNvPr id="9" name="Picture 8" descr="What is CMOS and what is it used for?">
            <a:extLst>
              <a:ext uri="{FF2B5EF4-FFF2-40B4-BE49-F238E27FC236}">
                <a16:creationId xmlns:a16="http://schemas.microsoft.com/office/drawing/2014/main" id="{78F3CED3-78B2-8DD9-C55C-88862B5A3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222" y="3429000"/>
            <a:ext cx="5185778" cy="3458873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7E35FD2-D0F4-F0D8-40EE-3A948C0863AD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1069AB0-2248-47C7-794C-D06B0AC2739A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5B46F-7775-9FDC-982C-D938B77F1934}"/>
              </a:ext>
            </a:extLst>
          </p:cNvPr>
          <p:cNvSpPr txBox="1"/>
          <p:nvPr/>
        </p:nvSpPr>
        <p:spPr>
          <a:xfrm>
            <a:off x="203199" y="1058914"/>
            <a:ext cx="65193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What is Firmware?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Firmware is specialized software embedded permanently or semi-permanently into hardware chips (non-volatile flash memory). Unlike regular applications stored on hard drives, firmware is immediately accessible to the processor the instant power is supplied to the system.</a:t>
            </a:r>
          </a:p>
        </p:txBody>
      </p:sp>
    </p:spTree>
    <p:extLst>
      <p:ext uri="{BB962C8B-B14F-4D97-AF65-F5344CB8AC3E}">
        <p14:creationId xmlns:p14="http://schemas.microsoft.com/office/powerpoint/2010/main" val="3945549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3E0D91A-75DF-F593-BB13-1A42B186AEA9}"/>
              </a:ext>
            </a:extLst>
          </p:cNvPr>
          <p:cNvSpPr txBox="1"/>
          <p:nvPr/>
        </p:nvSpPr>
        <p:spPr>
          <a:xfrm>
            <a:off x="229985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7CFF5A9-66BC-32E6-D03B-038F6581BA5F}"/>
              </a:ext>
            </a:extLst>
          </p:cNvPr>
          <p:cNvSpPr txBox="1"/>
          <p:nvPr/>
        </p:nvSpPr>
        <p:spPr>
          <a:xfrm>
            <a:off x="229985" y="6492239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E70A07-F688-A3DA-88C1-9D0A319A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414" y="182880"/>
            <a:ext cx="8229601" cy="56526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B45D86-8DE2-9315-2438-2AE1E5B1A1C7}"/>
              </a:ext>
            </a:extLst>
          </p:cNvPr>
          <p:cNvSpPr txBox="1"/>
          <p:nvPr/>
        </p:nvSpPr>
        <p:spPr>
          <a:xfrm rot="10800000" flipV="1">
            <a:off x="135464" y="835292"/>
            <a:ext cx="3437469" cy="46991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Around the PC, devices are divided into two main categories:</a:t>
            </a:r>
          </a:p>
          <a:p>
            <a:endParaRPr lang="en-US" sz="2000" dirty="0"/>
          </a:p>
          <a:p>
            <a:r>
              <a:rPr lang="en-US" sz="2000" b="1" dirty="0"/>
              <a:t>Input devices: </a:t>
            </a:r>
            <a:r>
              <a:rPr lang="en-US" sz="2000" dirty="0"/>
              <a:t> </a:t>
            </a:r>
          </a:p>
          <a:p>
            <a:r>
              <a:rPr lang="en-US" sz="2000" dirty="0"/>
              <a:t>Bring information to the system, such as a mouse, keyboard, or game controller. </a:t>
            </a:r>
          </a:p>
          <a:p>
            <a:endParaRPr lang="en-US" sz="2000" dirty="0"/>
          </a:p>
          <a:p>
            <a:r>
              <a:rPr lang="en-US" sz="2000" b="1" dirty="0"/>
              <a:t>Output devices</a:t>
            </a:r>
            <a:r>
              <a:rPr lang="en-US" sz="2000" dirty="0"/>
              <a:t>:</a:t>
            </a:r>
          </a:p>
          <a:p>
            <a:r>
              <a:rPr lang="en-US" sz="2000" dirty="0"/>
              <a:t>Allow information to be output/displayed, such as a printer or a screen. </a:t>
            </a:r>
          </a:p>
        </p:txBody>
      </p:sp>
    </p:spTree>
    <p:extLst>
      <p:ext uri="{BB962C8B-B14F-4D97-AF65-F5344CB8AC3E}">
        <p14:creationId xmlns:p14="http://schemas.microsoft.com/office/powerpoint/2010/main" val="3303976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COMPUTER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stored as bits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79"/>
            <a:ext cx="3535680" cy="3904211"/>
          </a:xfrm>
          <a:prstGeom prst="roundRect">
            <a:avLst>
              <a:gd name="adj" fmla="val 4545"/>
            </a:avLst>
          </a:prstGeom>
          <a:solidFill>
            <a:srgbClr val="EAF4F8"/>
          </a:solidFill>
          <a:ln w="15875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79120" y="1555865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316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b="1" dirty="0"/>
              <a:t>Definition:</a:t>
            </a:r>
            <a:r>
              <a:rPr lang="en-US" dirty="0"/>
              <a:t> Short for </a:t>
            </a:r>
            <a:r>
              <a:rPr lang="en-US" i="1" dirty="0"/>
              <a:t>binary digit</a:t>
            </a:r>
            <a:r>
              <a:rPr lang="en-US" dirty="0"/>
              <a:t>, a bit is the smallest basic unit of digital information.</a:t>
            </a:r>
          </a:p>
          <a:p>
            <a:pPr lvl="0"/>
            <a:r>
              <a:rPr lang="en-US" b="1" dirty="0"/>
              <a:t>Values:</a:t>
            </a:r>
            <a:r>
              <a:rPr lang="en-US" dirty="0"/>
              <a:t> It represents a single binary state: </a:t>
            </a:r>
            <a:r>
              <a:rPr lang="en-US" b="1" dirty="0"/>
              <a:t>0</a:t>
            </a:r>
            <a:r>
              <a:rPr lang="en-US" dirty="0"/>
              <a:t> or </a:t>
            </a:r>
            <a:r>
              <a:rPr lang="en-US" b="1" dirty="0"/>
              <a:t>1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Symbol:</a:t>
            </a:r>
            <a:r>
              <a:rPr lang="en-US" dirty="0"/>
              <a:t> Lowercase </a:t>
            </a:r>
            <a:r>
              <a:rPr lang="en-US" b="1" dirty="0"/>
              <a:t>b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Usage:</a:t>
            </a:r>
            <a:r>
              <a:rPr lang="en-US" dirty="0"/>
              <a:t> Commonly used to measure data transfer speeds and network bandwidth (e.g., Mbps, Gbps).</a:t>
            </a:r>
          </a:p>
          <a:p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2920" y="1554480"/>
            <a:ext cx="3535680" cy="3904210"/>
          </a:xfrm>
          <a:prstGeom prst="roundRect">
            <a:avLst>
              <a:gd name="adj" fmla="val 4545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107680" y="2500744"/>
            <a:ext cx="3535680" cy="2011680"/>
          </a:xfrm>
          <a:prstGeom prst="roundRect">
            <a:avLst>
              <a:gd name="adj" fmla="val 4545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262A76-99CB-6FD1-672F-86FCC9E624CC}"/>
              </a:ext>
            </a:extLst>
          </p:cNvPr>
          <p:cNvSpPr txBox="1"/>
          <p:nvPr/>
        </p:nvSpPr>
        <p:spPr>
          <a:xfrm>
            <a:off x="4341322" y="1561773"/>
            <a:ext cx="1264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BE4B06-337F-7051-45E7-F8430279EEBD}"/>
              </a:ext>
            </a:extLst>
          </p:cNvPr>
          <p:cNvSpPr txBox="1"/>
          <p:nvPr/>
        </p:nvSpPr>
        <p:spPr>
          <a:xfrm>
            <a:off x="4312920" y="2084993"/>
            <a:ext cx="353568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Definition:</a:t>
            </a:r>
            <a:r>
              <a:rPr lang="en-US" dirty="0"/>
              <a:t> A group of </a:t>
            </a:r>
            <a:r>
              <a:rPr lang="en-US" b="1" dirty="0"/>
              <a:t>8 bits</a:t>
            </a:r>
            <a:r>
              <a:rPr lang="en-US" dirty="0"/>
              <a:t> addressed as a single unit of data storage.</a:t>
            </a:r>
          </a:p>
          <a:p>
            <a:pPr lvl="0"/>
            <a:r>
              <a:rPr lang="en-US" b="1" dirty="0"/>
              <a:t>Function:</a:t>
            </a:r>
            <a:r>
              <a:rPr lang="en-US" dirty="0"/>
              <a:t> A single byte can store enough information to represent one text character (such as a letter, number, or symbol).</a:t>
            </a:r>
          </a:p>
          <a:p>
            <a:pPr lvl="0"/>
            <a:r>
              <a:rPr lang="en-US" b="1" dirty="0"/>
              <a:t>Symbol:</a:t>
            </a:r>
            <a:r>
              <a:rPr lang="en-US" dirty="0"/>
              <a:t> Uppercase </a:t>
            </a:r>
            <a:r>
              <a:rPr lang="en-US" b="1" dirty="0"/>
              <a:t>B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Usage:</a:t>
            </a:r>
            <a:r>
              <a:rPr lang="en-US" dirty="0"/>
              <a:t> Commonly used to measure file sizes and storage capacities (e.g., MB, GB, TB).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88761-D40E-6E5F-A52F-92CD4E049745}"/>
              </a:ext>
            </a:extLst>
          </p:cNvPr>
          <p:cNvSpPr txBox="1"/>
          <p:nvPr/>
        </p:nvSpPr>
        <p:spPr>
          <a:xfrm>
            <a:off x="8221633" y="2530441"/>
            <a:ext cx="2113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Conversion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FF82EA-49F8-4B4A-E443-93D671350A6E}"/>
                  </a:ext>
                </a:extLst>
              </p:cNvPr>
              <p:cNvSpPr txBox="1"/>
              <p:nvPr/>
            </p:nvSpPr>
            <p:spPr>
              <a:xfrm>
                <a:off x="8656320" y="3710866"/>
                <a:ext cx="2438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1 Byte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=8</m:t>
                      </m:r>
                      <m:r>
                        <m:rPr>
                          <m:nor/>
                        </m:rPr>
                        <a:rPr lang="en-US" i="0">
                          <a:latin typeface="Cambria Math" panose="02040503050406030204" pitchFamily="18" charset="0"/>
                        </a:rPr>
                        <m:t> Bits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FF82EA-49F8-4B4A-E443-93D671350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6320" y="3710866"/>
                <a:ext cx="243840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804EE3-62AB-7450-DF0F-6B386D6BF0B1}"/>
              </a:ext>
            </a:extLst>
          </p:cNvPr>
          <p:cNvSpPr txBox="1"/>
          <p:nvPr/>
        </p:nvSpPr>
        <p:spPr>
          <a:xfrm>
            <a:off x="502920" y="629930"/>
            <a:ext cx="330552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800" b="1" dirty="0">
                <a:solidFill>
                  <a:srgbClr val="FFFF00"/>
                </a:solidFill>
                <a:latin typeface="Aptos"/>
              </a:rPr>
              <a:t>What is a program?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6B6DB-2124-A0F4-DFD5-1D64A5D1D693}"/>
              </a:ext>
            </a:extLst>
          </p:cNvPr>
          <p:cNvSpPr txBox="1"/>
          <p:nvPr/>
        </p:nvSpPr>
        <p:spPr>
          <a:xfrm>
            <a:off x="918140" y="1797501"/>
            <a:ext cx="9766213" cy="105560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 defTabSz="457200"/>
            <a:r>
              <a:rPr lang="en-US" sz="2800" b="1" dirty="0"/>
              <a:t>A computer program is a structured set of instructions written in a programming language (e.g., Python, C, Java).</a:t>
            </a:r>
            <a:r>
              <a:rPr sz="2800" b="1" dirty="0">
                <a:solidFill>
                  <a:srgbClr val="182D3A"/>
                </a:solidFill>
              </a:rPr>
              <a:t>.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4679E214-3938-E9B2-571A-E17BBE39E6F3}"/>
              </a:ext>
            </a:extLst>
          </p:cNvPr>
          <p:cNvSpPr txBox="1"/>
          <p:nvPr/>
        </p:nvSpPr>
        <p:spPr>
          <a:xfrm>
            <a:off x="318346" y="5592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2. Program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90469-B0B4-DA23-25BF-4C5C161DE8B8}"/>
              </a:ext>
            </a:extLst>
          </p:cNvPr>
          <p:cNvSpPr txBox="1"/>
          <p:nvPr/>
        </p:nvSpPr>
        <p:spPr>
          <a:xfrm>
            <a:off x="1012711" y="3830525"/>
            <a:ext cx="9671642" cy="15323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These instructions direct the computer to execute specific operations, such as performing computations, rendering information, managing data, and controlling hardware devices.</a:t>
            </a:r>
          </a:p>
        </p:txBody>
      </p:sp>
    </p:spTree>
    <p:extLst>
      <p:ext uri="{BB962C8B-B14F-4D97-AF65-F5344CB8AC3E}">
        <p14:creationId xmlns:p14="http://schemas.microsoft.com/office/powerpoint/2010/main" val="1011224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2. Program 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a program run?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377440" cy="173736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10312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2103120" cy="9144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Program installed on the SSD/HDD</a:t>
            </a:r>
            <a:endParaRPr lang="en-US" sz="1600" b="1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00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520440" y="2240280"/>
            <a:ext cx="2103120" cy="457200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788920"/>
            <a:ext cx="2103120" cy="914400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Program and data loaded into memory</a:t>
            </a:r>
            <a:endParaRPr lang="en-US" sz="1400" b="1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377440" cy="1737360"/>
          </a:xfrm>
          <a:prstGeom prst="roundRect">
            <a:avLst>
              <a:gd name="adj" fmla="val 526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355080" y="2240280"/>
            <a:ext cx="2103120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355080" y="2788920"/>
            <a:ext cx="2103120" cy="91440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Fetches, decodes, executes instructions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59536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52560" y="2103120"/>
            <a:ext cx="2377440" cy="1737360"/>
          </a:xfrm>
          <a:prstGeom prst="roundRect">
            <a:avLst>
              <a:gd name="adj" fmla="val 5263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 sz="2000" b="1"/>
          </a:p>
        </p:txBody>
      </p:sp>
      <p:sp>
        <p:nvSpPr>
          <p:cNvPr id="19" name="Text 17"/>
          <p:cNvSpPr txBox="1"/>
          <p:nvPr/>
        </p:nvSpPr>
        <p:spPr>
          <a:xfrm>
            <a:off x="9189720" y="2240280"/>
            <a:ext cx="210312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2000" b="1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788920"/>
            <a:ext cx="2103120" cy="9144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displayed to the user</a:t>
            </a:r>
            <a:endParaRPr lang="en-US" sz="1400" b="1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89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reads instructions from RAM, writes intermediate results back to RAM, and the final result goes to an output device.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3· ALGORITHMS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C7A8A-B4F6-A3B9-C52C-2C9757AE1114}"/>
              </a:ext>
            </a:extLst>
          </p:cNvPr>
          <p:cNvSpPr txBox="1"/>
          <p:nvPr/>
        </p:nvSpPr>
        <p:spPr>
          <a:xfrm>
            <a:off x="566746" y="1331688"/>
            <a:ext cx="371986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800" b="1" dirty="0">
                <a:solidFill>
                  <a:srgbClr val="FFFF00"/>
                </a:solidFill>
                <a:latin typeface="Aptos"/>
              </a:rPr>
              <a:t>What is an algorithm?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A498C-887E-0A9D-FF93-D43D77823AB9}"/>
              </a:ext>
            </a:extLst>
          </p:cNvPr>
          <p:cNvSpPr txBox="1"/>
          <p:nvPr/>
        </p:nvSpPr>
        <p:spPr>
          <a:xfrm>
            <a:off x="807443" y="2461365"/>
            <a:ext cx="9294500" cy="783193"/>
          </a:xfrm>
          <a:prstGeom prst="round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 algn="ctr" defTabSz="457200"/>
            <a:r>
              <a:rPr sz="2000" b="1" dirty="0">
                <a:solidFill>
                  <a:srgbClr val="182D3A"/>
                </a:solidFill>
                <a:latin typeface="Aptos"/>
              </a:rPr>
              <a:t>An algorithm is a finite sequence of precise and ordered instructions designed to solve a problem or perform a task.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49B1A27F-443B-B864-E826-096F205B2171}"/>
              </a:ext>
            </a:extLst>
          </p:cNvPr>
          <p:cNvSpPr/>
          <p:nvPr/>
        </p:nvSpPr>
        <p:spPr>
          <a:xfrm>
            <a:off x="1295400" y="4764091"/>
            <a:ext cx="1417320" cy="347472"/>
          </a:xfrm>
          <a:prstGeom prst="round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03B3C4-2D95-D797-E3B5-7F189A759C50}"/>
              </a:ext>
            </a:extLst>
          </p:cNvPr>
          <p:cNvSpPr txBox="1"/>
          <p:nvPr/>
        </p:nvSpPr>
        <p:spPr>
          <a:xfrm>
            <a:off x="1574294" y="4753161"/>
            <a:ext cx="85953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b="1">
                <a:solidFill>
                  <a:srgbClr val="FFFFFF"/>
                </a:solidFill>
                <a:latin typeface="Aptos"/>
              </a:rPr>
              <a:t>FINITE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571A0E4D-2D37-428F-DF1B-F758CF8FCB39}"/>
              </a:ext>
            </a:extLst>
          </p:cNvPr>
          <p:cNvSpPr/>
          <p:nvPr/>
        </p:nvSpPr>
        <p:spPr>
          <a:xfrm>
            <a:off x="3169920" y="4764091"/>
            <a:ext cx="1600200" cy="347472"/>
          </a:xfrm>
          <a:prstGeom prst="round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674698-907E-AF44-6A42-1C02C3A9526B}"/>
              </a:ext>
            </a:extLst>
          </p:cNvPr>
          <p:cNvSpPr txBox="1"/>
          <p:nvPr/>
        </p:nvSpPr>
        <p:spPr>
          <a:xfrm>
            <a:off x="3418747" y="4753161"/>
            <a:ext cx="110254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b="1">
                <a:solidFill>
                  <a:srgbClr val="FFFFFF"/>
                </a:solidFill>
                <a:latin typeface="Aptos"/>
              </a:rPr>
              <a:t>PRECISE</a:t>
            </a: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F2089CE7-DEF3-5E9E-7872-34B35FAEE47D}"/>
              </a:ext>
            </a:extLst>
          </p:cNvPr>
          <p:cNvSpPr/>
          <p:nvPr/>
        </p:nvSpPr>
        <p:spPr>
          <a:xfrm>
            <a:off x="5273040" y="4764091"/>
            <a:ext cx="1645920" cy="347472"/>
          </a:xfrm>
          <a:prstGeom prst="round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7F64B4-1269-AA4C-E4F2-362B6E9F1602}"/>
              </a:ext>
            </a:extLst>
          </p:cNvPr>
          <p:cNvSpPr txBox="1"/>
          <p:nvPr/>
        </p:nvSpPr>
        <p:spPr>
          <a:xfrm>
            <a:off x="5476279" y="4753161"/>
            <a:ext cx="123944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b="1">
                <a:solidFill>
                  <a:srgbClr val="FFFFFF"/>
                </a:solidFill>
                <a:latin typeface="Aptos"/>
              </a:rPr>
              <a:t>ORDERED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6E55EA98-5D46-2447-658F-FF36B733D886}"/>
              </a:ext>
            </a:extLst>
          </p:cNvPr>
          <p:cNvSpPr/>
          <p:nvPr/>
        </p:nvSpPr>
        <p:spPr>
          <a:xfrm>
            <a:off x="7421880" y="4764091"/>
            <a:ext cx="1965960" cy="347472"/>
          </a:xfrm>
          <a:prstGeom prst="roundRect">
            <a:avLst/>
          </a:prstGeom>
          <a:solidFill>
            <a:srgbClr val="182D3A"/>
          </a:solidFill>
          <a:ln w="9525" cap="flat" cmpd="sng" algn="ctr">
            <a:solidFill>
              <a:srgbClr val="182D3A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2D09C-49A6-CB99-AC58-AA3F0971395A}"/>
              </a:ext>
            </a:extLst>
          </p:cNvPr>
          <p:cNvSpPr txBox="1"/>
          <p:nvPr/>
        </p:nvSpPr>
        <p:spPr>
          <a:xfrm>
            <a:off x="7598389" y="4753161"/>
            <a:ext cx="161294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b="1">
                <a:solidFill>
                  <a:srgbClr val="FFFFFF"/>
                </a:solidFill>
                <a:latin typeface="Aptos"/>
              </a:rPr>
              <a:t>PURPOSEFUL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9479F3-4B9D-3DCC-DD58-1B79B647169E}"/>
              </a:ext>
            </a:extLst>
          </p:cNvPr>
          <p:cNvSpPr txBox="1"/>
          <p:nvPr/>
        </p:nvSpPr>
        <p:spPr>
          <a:xfrm>
            <a:off x="3158957" y="5612776"/>
            <a:ext cx="4676217" cy="400110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/>
          <a:p>
            <a:pPr algn="ctr" defTabSz="457200"/>
            <a:r>
              <a:rPr sz="2000" b="1">
                <a:latin typeface="Aptos"/>
              </a:rPr>
              <a:t>العربية: خوارزمية     |     Français: algorithme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ABBDF2-6B80-D7CB-FF96-1922A8B0C1AC}"/>
              </a:ext>
            </a:extLst>
          </p:cNvPr>
          <p:cNvSpPr txBox="1"/>
          <p:nvPr/>
        </p:nvSpPr>
        <p:spPr>
          <a:xfrm>
            <a:off x="1125952" y="3733641"/>
            <a:ext cx="4902561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rgbClr val="FFFF00"/>
                </a:solidFill>
                <a:latin typeface="Aptos"/>
              </a:rPr>
              <a:t>Properties of a good algorithm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 Short History of the Algorithm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From a 9th-century mathematician to the code you write today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10881360" cy="0"/>
          </a:xfrm>
          <a:prstGeom prst="line">
            <a:avLst/>
          </a:prstGeom>
          <a:noFill/>
          <a:ln w="571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6860" y="3383280"/>
            <a:ext cx="0" cy="32004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3416" y="3579876"/>
            <a:ext cx="246888" cy="2468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5420" y="3611880"/>
            <a:ext cx="182880" cy="182880"/>
          </a:xfrm>
          <a:prstGeom prst="ellipse">
            <a:avLst/>
          </a:prstGeom>
          <a:solidFill>
            <a:srgbClr val="C9840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" y="196596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c. 820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08660" y="2368296"/>
            <a:ext cx="167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Al-Khwarizmi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08660" y="2679192"/>
            <a:ext cx="167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Writes step-by-step methods for solving equations — the origin of the word “algorithm.”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60420" y="3703320"/>
            <a:ext cx="0" cy="32004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6976" y="3579876"/>
            <a:ext cx="246888" cy="2468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8980" y="3611880"/>
            <a:ext cx="182880" cy="182880"/>
          </a:xfrm>
          <a:prstGeom prst="ellipse">
            <a:avLst/>
          </a:prstGeom>
          <a:solidFill>
            <a:srgbClr val="C984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22220" y="402336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1843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522220" y="4407408"/>
            <a:ext cx="167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Ada Lovelace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2522220" y="4718304"/>
            <a:ext cx="167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first algorithm written for a machine.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173980" y="3383280"/>
            <a:ext cx="0" cy="32004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0536" y="3579876"/>
            <a:ext cx="246888" cy="2468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2540" y="3611880"/>
            <a:ext cx="182880" cy="182880"/>
          </a:xfrm>
          <a:prstGeom prst="ellipse">
            <a:avLst/>
          </a:prstGeom>
          <a:solidFill>
            <a:srgbClr val="C9840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35780" y="196596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1936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335780" y="2368296"/>
            <a:ext cx="167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335780" y="2679192"/>
            <a:ext cx="167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Formally defines what “computation” means.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987540" y="3703320"/>
            <a:ext cx="0" cy="32004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64096" y="3579876"/>
            <a:ext cx="246888" cy="2468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6100" y="3611880"/>
            <a:ext cx="182880" cy="182880"/>
          </a:xfrm>
          <a:prstGeom prst="ellipse">
            <a:avLst/>
          </a:prstGeom>
          <a:solidFill>
            <a:srgbClr val="C9840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49340" y="402336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1945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149340" y="4407408"/>
            <a:ext cx="167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ENIAC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149340" y="4718304"/>
            <a:ext cx="167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First algorithms run automatically by an electronic computer.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801100" y="3383280"/>
            <a:ext cx="0" cy="32004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77656" y="3579876"/>
            <a:ext cx="246888" cy="2468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09660" y="3611880"/>
            <a:ext cx="182880" cy="182880"/>
          </a:xfrm>
          <a:prstGeom prst="ellipse">
            <a:avLst/>
          </a:prstGeom>
          <a:solidFill>
            <a:srgbClr val="C9840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962900" y="196596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962900" y="2368296"/>
            <a:ext cx="167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7962900" y="2679192"/>
            <a:ext cx="167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Released — the language you use in this course.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614660" y="3703320"/>
            <a:ext cx="0" cy="320040"/>
          </a:xfrm>
          <a:prstGeom prst="line">
            <a:avLst/>
          </a:prstGeom>
          <a:noFill/>
          <a:ln w="25400">
            <a:solidFill>
              <a:srgbClr val="B9C4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91216" y="3579876"/>
            <a:ext cx="246888" cy="2468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23220" y="3611880"/>
            <a:ext cx="182880" cy="182880"/>
          </a:xfrm>
          <a:prstGeom prst="ellipse">
            <a:avLst/>
          </a:prstGeom>
          <a:solidFill>
            <a:srgbClr val="C9840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776460" y="402336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9776460" y="4407408"/>
            <a:ext cx="167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65A8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Everywhere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9776460" y="4718304"/>
            <a:ext cx="167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Same idea: precise, ordered steps — now powering everything.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FA705-D010-8769-3599-AD34DC20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356577-515E-3D6F-56C9-DB78C2C8B6D1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DC177D-2FFB-B1C7-A1D6-ECF87258E76F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9AF54E-A4E2-CF6D-69FD-3E1217A5BF73}"/>
              </a:ext>
            </a:extLst>
          </p:cNvPr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A8853-F321-1B0C-E5D8-A856723CC765}"/>
              </a:ext>
            </a:extLst>
          </p:cNvPr>
          <p:cNvSpPr txBox="1"/>
          <p:nvPr/>
        </p:nvSpPr>
        <p:spPr>
          <a:xfrm>
            <a:off x="365760" y="596233"/>
            <a:ext cx="179235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1400" b="1" dirty="0">
                <a:solidFill>
                  <a:srgbClr val="267E63"/>
                </a:solidFill>
                <a:latin typeface="Aptos"/>
              </a:rPr>
              <a:t>REAL LIFE </a:t>
            </a:r>
            <a:r>
              <a:rPr sz="1400" b="1" dirty="0">
                <a:solidFill>
                  <a:srgbClr val="267E63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7AA1C6-C75F-5F50-F9A6-1182901333C0}"/>
              </a:ext>
            </a:extLst>
          </p:cNvPr>
          <p:cNvSpPr txBox="1"/>
          <p:nvPr/>
        </p:nvSpPr>
        <p:spPr>
          <a:xfrm>
            <a:off x="365760" y="946137"/>
            <a:ext cx="309520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82D3A"/>
                </a:solidFill>
                <a:latin typeface="Aptos"/>
              </a:rPr>
              <a:t>Everyday algorithm: making tea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5AD793-8A6B-2A23-C395-A9F1558E70E5}"/>
              </a:ext>
            </a:extLst>
          </p:cNvPr>
          <p:cNvSpPr txBox="1"/>
          <p:nvPr/>
        </p:nvSpPr>
        <p:spPr>
          <a:xfrm>
            <a:off x="2681435" y="5758455"/>
            <a:ext cx="582627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C00000"/>
                </a:solidFill>
                <a:latin typeface="Aptos"/>
              </a:rPr>
              <a:t>Question: What happens if we change the order?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494E03-EFFD-E24B-DE44-6A1ACCF0AF81}"/>
              </a:ext>
            </a:extLst>
          </p:cNvPr>
          <p:cNvSpPr txBox="1"/>
          <p:nvPr/>
        </p:nvSpPr>
        <p:spPr>
          <a:xfrm>
            <a:off x="3314621" y="6116359"/>
            <a:ext cx="455990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0070C0"/>
                </a:solidFill>
                <a:latin typeface="Aptos"/>
              </a:rPr>
              <a:t>The order of instructions can change the result.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67748DB-DB9F-C6A9-5527-795E5652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219" y="1492860"/>
            <a:ext cx="8970125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37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8C5E8-AFB8-9313-E9D8-498B5122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93F974C-6C6F-1A91-5F33-9D490599B106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C895959-CE8C-57AE-29EC-BC9570137AC0}"/>
              </a:ext>
            </a:extLst>
          </p:cNvPr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78E40-82AB-6A3E-C99D-A3711EC2B1DB}"/>
              </a:ext>
            </a:extLst>
          </p:cNvPr>
          <p:cNvSpPr txBox="1"/>
          <p:nvPr/>
        </p:nvSpPr>
        <p:spPr>
          <a:xfrm>
            <a:off x="579120" y="1167628"/>
            <a:ext cx="318324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SCIENTIFIC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FD5EE-7A7A-6E7B-B162-43181C295962}"/>
              </a:ext>
            </a:extLst>
          </p:cNvPr>
          <p:cNvSpPr txBox="1"/>
          <p:nvPr/>
        </p:nvSpPr>
        <p:spPr>
          <a:xfrm>
            <a:off x="579120" y="1884365"/>
            <a:ext cx="6436698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chemeClr val="bg1"/>
                </a:solidFill>
                <a:latin typeface="Aptos"/>
              </a:rPr>
              <a:t>Scientific algorithm: calculating density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4A53C13F-40DA-8787-1169-AFC42F9073B7}"/>
              </a:ext>
            </a:extLst>
          </p:cNvPr>
          <p:cNvSpPr/>
          <p:nvPr/>
        </p:nvSpPr>
        <p:spPr>
          <a:xfrm>
            <a:off x="594360" y="2836303"/>
            <a:ext cx="2423160" cy="182880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A21894-D1F0-E46C-1BE7-019360D63C18}"/>
              </a:ext>
            </a:extLst>
          </p:cNvPr>
          <p:cNvSpPr/>
          <p:nvPr/>
        </p:nvSpPr>
        <p:spPr>
          <a:xfrm>
            <a:off x="594360" y="2836303"/>
            <a:ext cx="73152" cy="182880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200C2-388D-E1EA-6FCC-3BFD7D19EDF5}"/>
              </a:ext>
            </a:extLst>
          </p:cNvPr>
          <p:cNvSpPr txBox="1"/>
          <p:nvPr/>
        </p:nvSpPr>
        <p:spPr>
          <a:xfrm>
            <a:off x="899160" y="3027552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D0DB1-BC6C-7945-EDD5-09C6D43591D4}"/>
              </a:ext>
            </a:extLst>
          </p:cNvPr>
          <p:cNvSpPr txBox="1"/>
          <p:nvPr/>
        </p:nvSpPr>
        <p:spPr>
          <a:xfrm>
            <a:off x="822960" y="3357510"/>
            <a:ext cx="2039112" cy="12070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>
                <a:solidFill>
                  <a:srgbClr val="263238"/>
                </a:solidFill>
                <a:latin typeface="Aptos"/>
              </a:rPr>
              <a:t>Mass m
Volume V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8A590E-9A8D-F24C-42DF-2310C68E2A6E}"/>
              </a:ext>
            </a:extLst>
          </p:cNvPr>
          <p:cNvSpPr/>
          <p:nvPr/>
        </p:nvSpPr>
        <p:spPr>
          <a:xfrm>
            <a:off x="3703320" y="2836303"/>
            <a:ext cx="2423160" cy="182880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81E2BC-0B2E-44D1-1B54-C69F8EAE58AC}"/>
              </a:ext>
            </a:extLst>
          </p:cNvPr>
          <p:cNvSpPr/>
          <p:nvPr/>
        </p:nvSpPr>
        <p:spPr>
          <a:xfrm>
            <a:off x="3703320" y="2836303"/>
            <a:ext cx="73152" cy="182880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A0231-56B3-EBE8-E948-FBD7B6E20162}"/>
              </a:ext>
            </a:extLst>
          </p:cNvPr>
          <p:cNvSpPr txBox="1"/>
          <p:nvPr/>
        </p:nvSpPr>
        <p:spPr>
          <a:xfrm>
            <a:off x="3931920" y="2964319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FORMULA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1B14F1-701F-4420-2C9F-20B9913FC975}"/>
              </a:ext>
            </a:extLst>
          </p:cNvPr>
          <p:cNvSpPr txBox="1"/>
          <p:nvPr/>
        </p:nvSpPr>
        <p:spPr>
          <a:xfrm>
            <a:off x="3931920" y="3357510"/>
            <a:ext cx="2039112" cy="12070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200">
                <a:solidFill>
                  <a:srgbClr val="263238"/>
                </a:solidFill>
                <a:latin typeface="Aptos"/>
              </a:rPr>
              <a:t>ρ = m / V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A2EA4F3-0042-C436-F675-3F2E45FEB971}"/>
              </a:ext>
            </a:extLst>
          </p:cNvPr>
          <p:cNvSpPr/>
          <p:nvPr/>
        </p:nvSpPr>
        <p:spPr>
          <a:xfrm>
            <a:off x="6812280" y="2836303"/>
            <a:ext cx="2423160" cy="182880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7922B2-43D3-53CB-A8FF-6267557E2458}"/>
              </a:ext>
            </a:extLst>
          </p:cNvPr>
          <p:cNvSpPr/>
          <p:nvPr/>
        </p:nvSpPr>
        <p:spPr>
          <a:xfrm>
            <a:off x="6812280" y="2836303"/>
            <a:ext cx="73152" cy="182880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B321FF-3DAC-3168-8225-DFA506B336F5}"/>
              </a:ext>
            </a:extLst>
          </p:cNvPr>
          <p:cNvSpPr txBox="1"/>
          <p:nvPr/>
        </p:nvSpPr>
        <p:spPr>
          <a:xfrm>
            <a:off x="7040880" y="2964319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CALCULATE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37E49A-1FD4-DEF2-7083-0DEE1E995871}"/>
              </a:ext>
            </a:extLst>
          </p:cNvPr>
          <p:cNvSpPr txBox="1"/>
          <p:nvPr/>
        </p:nvSpPr>
        <p:spPr>
          <a:xfrm>
            <a:off x="7040880" y="3357510"/>
            <a:ext cx="2039112" cy="12070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Divide mass by volume</a:t>
            </a:r>
          </a:p>
        </p:txBody>
      </p:sp>
      <p:sp>
        <p:nvSpPr>
          <p:cNvPr id="21" name="Rounded Rectangle 19">
            <a:extLst>
              <a:ext uri="{FF2B5EF4-FFF2-40B4-BE49-F238E27FC236}">
                <a16:creationId xmlns:a16="http://schemas.microsoft.com/office/drawing/2014/main" id="{06D110EB-3AAA-056D-A5C2-B53BAB231A4F}"/>
              </a:ext>
            </a:extLst>
          </p:cNvPr>
          <p:cNvSpPr/>
          <p:nvPr/>
        </p:nvSpPr>
        <p:spPr>
          <a:xfrm>
            <a:off x="9921240" y="2836303"/>
            <a:ext cx="1645920" cy="182880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E04BEC-EC4D-987E-02CB-8DDE53E3AE41}"/>
              </a:ext>
            </a:extLst>
          </p:cNvPr>
          <p:cNvSpPr/>
          <p:nvPr/>
        </p:nvSpPr>
        <p:spPr>
          <a:xfrm>
            <a:off x="9921240" y="2836303"/>
            <a:ext cx="73152" cy="182880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182D3A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FEE0A2-B9E9-3DE3-708D-D4048DAA4EDD}"/>
              </a:ext>
            </a:extLst>
          </p:cNvPr>
          <p:cNvSpPr txBox="1"/>
          <p:nvPr/>
        </p:nvSpPr>
        <p:spPr>
          <a:xfrm>
            <a:off x="10149840" y="2964319"/>
            <a:ext cx="12801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OUTPUT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061123-E33B-28D8-2DC8-2419B2EB59C6}"/>
              </a:ext>
            </a:extLst>
          </p:cNvPr>
          <p:cNvSpPr txBox="1"/>
          <p:nvPr/>
        </p:nvSpPr>
        <p:spPr>
          <a:xfrm>
            <a:off x="10149840" y="3357510"/>
            <a:ext cx="1261872" cy="12070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>
                <a:solidFill>
                  <a:srgbClr val="263238"/>
                </a:solidFill>
                <a:latin typeface="Aptos"/>
              </a:rPr>
              <a:t>Density 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820F53-7EB6-551E-0687-852AC8A254D0}"/>
              </a:ext>
            </a:extLst>
          </p:cNvPr>
          <p:cNvSpPr txBox="1"/>
          <p:nvPr/>
        </p:nvSpPr>
        <p:spPr>
          <a:xfrm>
            <a:off x="2778772" y="5047347"/>
            <a:ext cx="585416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b="1" dirty="0">
                <a:solidFill>
                  <a:schemeClr val="bg1"/>
                </a:solidFill>
                <a:latin typeface="Aptos"/>
              </a:rPr>
              <a:t>1. Read m   2. Read V   3. Compute ρ = m/V   4. Display ρ</a:t>
            </a: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0EE173B-FA89-85E7-94C6-BD685829617C}"/>
              </a:ext>
            </a:extLst>
          </p:cNvPr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312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8E412C-31BE-4999-3D6E-C7A027D5B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E5186C91-6DD0-5BEE-6F07-9F075A0E1BE5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011368-ED82-CAFC-CFCC-360FB7508C5C}"/>
              </a:ext>
            </a:extLst>
          </p:cNvPr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4DB87038-686A-64E7-0583-E63D5C095316}"/>
              </a:ext>
            </a:extLst>
          </p:cNvPr>
          <p:cNvSpPr txBox="1"/>
          <p:nvPr/>
        </p:nvSpPr>
        <p:spPr>
          <a:xfrm>
            <a:off x="214359" y="14240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C14BED-B16B-A187-37FD-FB74F7A342C4}"/>
              </a:ext>
            </a:extLst>
          </p:cNvPr>
          <p:cNvSpPr txBox="1"/>
          <p:nvPr/>
        </p:nvSpPr>
        <p:spPr>
          <a:xfrm>
            <a:off x="3402767" y="252182"/>
            <a:ext cx="4381456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rgbClr val="FFFF00"/>
                </a:solidFill>
                <a:latin typeface="Aptos"/>
              </a:rPr>
              <a:t>From problem to algorithm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C15660C-18A8-94F3-27DF-245ECAF1B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027427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90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B69968-D6DA-FB63-0C0C-21E4305ECD78}"/>
              </a:ext>
            </a:extLst>
          </p:cNvPr>
          <p:cNvSpPr txBox="1"/>
          <p:nvPr/>
        </p:nvSpPr>
        <p:spPr>
          <a:xfrm>
            <a:off x="214359" y="849195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rgbClr val="182D3A"/>
                </a:solidFill>
                <a:latin typeface="Aptos"/>
              </a:rPr>
              <a:t>Algorithmic thinking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9756A869-9E51-0F4F-C9DB-8B317743A280}"/>
              </a:ext>
            </a:extLst>
          </p:cNvPr>
          <p:cNvSpPr/>
          <p:nvPr/>
        </p:nvSpPr>
        <p:spPr>
          <a:xfrm>
            <a:off x="704088" y="2496313"/>
            <a:ext cx="3163824" cy="15544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CE6D4A-D87D-5AFE-9E75-36F9FF31908F}"/>
              </a:ext>
            </a:extLst>
          </p:cNvPr>
          <p:cNvSpPr/>
          <p:nvPr/>
        </p:nvSpPr>
        <p:spPr>
          <a:xfrm>
            <a:off x="704088" y="2496313"/>
            <a:ext cx="73152" cy="155448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B5060-FF66-40E8-411C-18263FA88BA3}"/>
              </a:ext>
            </a:extLst>
          </p:cNvPr>
          <p:cNvSpPr txBox="1"/>
          <p:nvPr/>
        </p:nvSpPr>
        <p:spPr>
          <a:xfrm>
            <a:off x="932688" y="2624329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66937D-33F0-EF5D-DCF9-8EC90BE3F6F9}"/>
              </a:ext>
            </a:extLst>
          </p:cNvPr>
          <p:cNvSpPr txBox="1"/>
          <p:nvPr/>
        </p:nvSpPr>
        <p:spPr>
          <a:xfrm>
            <a:off x="932688" y="3206865"/>
            <a:ext cx="2329172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457200"/>
            <a:r>
              <a:rPr sz="1500" dirty="0">
                <a:solidFill>
                  <a:srgbClr val="263238"/>
                </a:solidFill>
                <a:latin typeface="Aptos"/>
              </a:rPr>
              <a:t>Break a large problem into smaller tasks.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E24E1610-0FAB-96AA-C517-0B1D1EF2D006}"/>
              </a:ext>
            </a:extLst>
          </p:cNvPr>
          <p:cNvSpPr/>
          <p:nvPr/>
        </p:nvSpPr>
        <p:spPr>
          <a:xfrm>
            <a:off x="4407408" y="2496313"/>
            <a:ext cx="3383280" cy="15544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8BF128-1CE9-EE4D-6A3D-2F7D56155675}"/>
              </a:ext>
            </a:extLst>
          </p:cNvPr>
          <p:cNvSpPr/>
          <p:nvPr/>
        </p:nvSpPr>
        <p:spPr>
          <a:xfrm>
            <a:off x="4407408" y="2496313"/>
            <a:ext cx="73152" cy="155448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CBECF-7044-BD11-0A03-8DA486A4D9C5}"/>
              </a:ext>
            </a:extLst>
          </p:cNvPr>
          <p:cNvSpPr txBox="1"/>
          <p:nvPr/>
        </p:nvSpPr>
        <p:spPr>
          <a:xfrm>
            <a:off x="4636008" y="2624329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SEQUENCE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6B25D-1DF5-B58A-DEC4-680D51674678}"/>
              </a:ext>
            </a:extLst>
          </p:cNvPr>
          <p:cNvSpPr txBox="1"/>
          <p:nvPr/>
        </p:nvSpPr>
        <p:spPr>
          <a:xfrm>
            <a:off x="4636008" y="3017520"/>
            <a:ext cx="2999232" cy="932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Put actions in the correct order.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02AE0626-154E-B06F-543C-F93FB7B559A7}"/>
              </a:ext>
            </a:extLst>
          </p:cNvPr>
          <p:cNvSpPr/>
          <p:nvPr/>
        </p:nvSpPr>
        <p:spPr>
          <a:xfrm>
            <a:off x="8110728" y="2496313"/>
            <a:ext cx="3383280" cy="15544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E4CF70-E72F-B457-5B2E-8DB0D723B9C8}"/>
              </a:ext>
            </a:extLst>
          </p:cNvPr>
          <p:cNvSpPr/>
          <p:nvPr/>
        </p:nvSpPr>
        <p:spPr>
          <a:xfrm>
            <a:off x="8110728" y="2496313"/>
            <a:ext cx="73152" cy="155448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DD587-E88E-D4EE-78C4-A7989AF41425}"/>
              </a:ext>
            </a:extLst>
          </p:cNvPr>
          <p:cNvSpPr txBox="1"/>
          <p:nvPr/>
        </p:nvSpPr>
        <p:spPr>
          <a:xfrm>
            <a:off x="8339328" y="2624329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DECISION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9CD55-CEFC-EA84-977C-F00DB5911582}"/>
              </a:ext>
            </a:extLst>
          </p:cNvPr>
          <p:cNvSpPr txBox="1"/>
          <p:nvPr/>
        </p:nvSpPr>
        <p:spPr>
          <a:xfrm>
            <a:off x="8339328" y="3206865"/>
            <a:ext cx="255422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Choose what to do when a condition changes.</a:t>
            </a:r>
          </a:p>
        </p:txBody>
      </p:sp>
      <p:sp>
        <p:nvSpPr>
          <p:cNvPr id="15" name="Rounded Rectangle 19">
            <a:extLst>
              <a:ext uri="{FF2B5EF4-FFF2-40B4-BE49-F238E27FC236}">
                <a16:creationId xmlns:a16="http://schemas.microsoft.com/office/drawing/2014/main" id="{1F19AF69-F7E2-425E-5931-6F21E8EC4F59}"/>
              </a:ext>
            </a:extLst>
          </p:cNvPr>
          <p:cNvSpPr/>
          <p:nvPr/>
        </p:nvSpPr>
        <p:spPr>
          <a:xfrm>
            <a:off x="2578608" y="4690873"/>
            <a:ext cx="3383280" cy="13258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984648-F150-CEE5-CEDF-C74F86428CC8}"/>
              </a:ext>
            </a:extLst>
          </p:cNvPr>
          <p:cNvSpPr/>
          <p:nvPr/>
        </p:nvSpPr>
        <p:spPr>
          <a:xfrm>
            <a:off x="2578608" y="4690873"/>
            <a:ext cx="73152" cy="1325880"/>
          </a:xfrm>
          <a:prstGeom prst="rect">
            <a:avLst/>
          </a:prstGeom>
          <a:solidFill>
            <a:srgbClr val="9AD5BC"/>
          </a:solidFill>
          <a:ln w="9525" cap="flat" cmpd="sng" algn="ctr">
            <a:solidFill>
              <a:srgbClr val="9AD5BC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E64AD-54BB-107E-8D96-D8232A37B8A8}"/>
              </a:ext>
            </a:extLst>
          </p:cNvPr>
          <p:cNvSpPr txBox="1"/>
          <p:nvPr/>
        </p:nvSpPr>
        <p:spPr>
          <a:xfrm>
            <a:off x="2807208" y="4818889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REPETITION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656870-73DD-C1F1-3FE2-A8C9A987081C}"/>
              </a:ext>
            </a:extLst>
          </p:cNvPr>
          <p:cNvSpPr txBox="1"/>
          <p:nvPr/>
        </p:nvSpPr>
        <p:spPr>
          <a:xfrm>
            <a:off x="2807208" y="5212080"/>
            <a:ext cx="2999232" cy="7040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Repeat a task efficiently.</a:t>
            </a: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E7538DDC-EBD0-0EA8-8731-E1475D6864CE}"/>
              </a:ext>
            </a:extLst>
          </p:cNvPr>
          <p:cNvSpPr/>
          <p:nvPr/>
        </p:nvSpPr>
        <p:spPr>
          <a:xfrm>
            <a:off x="6281928" y="4690873"/>
            <a:ext cx="3383280" cy="13258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4C7BB3-71BC-9773-DA5F-05974A80692B}"/>
              </a:ext>
            </a:extLst>
          </p:cNvPr>
          <p:cNvSpPr/>
          <p:nvPr/>
        </p:nvSpPr>
        <p:spPr>
          <a:xfrm>
            <a:off x="6281928" y="4690873"/>
            <a:ext cx="73152" cy="1325880"/>
          </a:xfrm>
          <a:prstGeom prst="rect">
            <a:avLst/>
          </a:prstGeom>
          <a:solidFill>
            <a:srgbClr val="182D3A"/>
          </a:solidFill>
          <a:ln w="9525" cap="flat" cmpd="sng" algn="ctr">
            <a:solidFill>
              <a:srgbClr val="182D3A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A6AC59-4009-B1D9-E4FD-4F690241BD92}"/>
              </a:ext>
            </a:extLst>
          </p:cNvPr>
          <p:cNvSpPr txBox="1"/>
          <p:nvPr/>
        </p:nvSpPr>
        <p:spPr>
          <a:xfrm>
            <a:off x="6510528" y="4818889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ABSTRACTION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8EF8B5-6FE6-8ACE-02EE-D289789B60B0}"/>
              </a:ext>
            </a:extLst>
          </p:cNvPr>
          <p:cNvSpPr txBox="1"/>
          <p:nvPr/>
        </p:nvSpPr>
        <p:spPr>
          <a:xfrm>
            <a:off x="6510528" y="5212080"/>
            <a:ext cx="2999232" cy="7040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Focus on what matters.</a:t>
            </a: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47D8172F-BDAF-5CAE-4181-74B1EFC81E16}"/>
              </a:ext>
            </a:extLst>
          </p:cNvPr>
          <p:cNvSpPr txBox="1"/>
          <p:nvPr/>
        </p:nvSpPr>
        <p:spPr>
          <a:xfrm>
            <a:off x="214359" y="14240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298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526922-0A92-4246-6031-535F4610AE86}"/>
              </a:ext>
            </a:extLst>
          </p:cNvPr>
          <p:cNvSpPr txBox="1"/>
          <p:nvPr/>
        </p:nvSpPr>
        <p:spPr>
          <a:xfrm>
            <a:off x="576072" y="1800319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rgbClr val="182D3A"/>
                </a:solidFill>
                <a:latin typeface="Aptos"/>
              </a:rPr>
              <a:t>Programming languages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344B8-A3E5-ADA0-FB95-E413D101ACFA}"/>
              </a:ext>
            </a:extLst>
          </p:cNvPr>
          <p:cNvSpPr txBox="1"/>
          <p:nvPr/>
        </p:nvSpPr>
        <p:spPr>
          <a:xfrm>
            <a:off x="987552" y="2623279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sz="2300" b="1">
                <a:solidFill>
                  <a:srgbClr val="182D3A"/>
                </a:solidFill>
                <a:latin typeface="Aptos"/>
              </a:rPr>
              <a:t>Human reasoning → algorithm → programming language → executable instructions</a:t>
            </a: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530EB6DC-4A3E-31D2-3B6A-8AC8ED6009B3}"/>
              </a:ext>
            </a:extLst>
          </p:cNvPr>
          <p:cNvSpPr/>
          <p:nvPr/>
        </p:nvSpPr>
        <p:spPr>
          <a:xfrm>
            <a:off x="758952" y="3949159"/>
            <a:ext cx="3383280" cy="164592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D170D0-0D29-65E1-EC1F-1A96C58CEFD6}"/>
              </a:ext>
            </a:extLst>
          </p:cNvPr>
          <p:cNvSpPr/>
          <p:nvPr/>
        </p:nvSpPr>
        <p:spPr>
          <a:xfrm>
            <a:off x="758952" y="3949159"/>
            <a:ext cx="73152" cy="164592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9F495-4779-B2EC-3E0C-804DEE5C5696}"/>
              </a:ext>
            </a:extLst>
          </p:cNvPr>
          <p:cNvSpPr txBox="1"/>
          <p:nvPr/>
        </p:nvSpPr>
        <p:spPr>
          <a:xfrm>
            <a:off x="987552" y="4077175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Algorithmic language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AD5D70-25D7-0B9B-F7A0-8B8592011D39}"/>
              </a:ext>
            </a:extLst>
          </p:cNvPr>
          <p:cNvSpPr txBox="1"/>
          <p:nvPr/>
        </p:nvSpPr>
        <p:spPr>
          <a:xfrm>
            <a:off x="987552" y="4470366"/>
            <a:ext cx="2999232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600">
                <a:solidFill>
                  <a:srgbClr val="263238"/>
                </a:solidFill>
                <a:latin typeface="Aptos"/>
              </a:rPr>
              <a:t>Pseudocode / flowchart
Focus: logic</a:t>
            </a: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FC659829-28E7-D97C-EE1C-682B48831404}"/>
              </a:ext>
            </a:extLst>
          </p:cNvPr>
          <p:cNvSpPr/>
          <p:nvPr/>
        </p:nvSpPr>
        <p:spPr>
          <a:xfrm>
            <a:off x="4462272" y="3949159"/>
            <a:ext cx="3383280" cy="164592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8AA184-7ECB-AD4C-36B1-9C8532DF8911}"/>
              </a:ext>
            </a:extLst>
          </p:cNvPr>
          <p:cNvSpPr/>
          <p:nvPr/>
        </p:nvSpPr>
        <p:spPr>
          <a:xfrm>
            <a:off x="4462272" y="3949159"/>
            <a:ext cx="73152" cy="164592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C7A1E-495B-8543-D9A5-D2431771A0FF}"/>
              </a:ext>
            </a:extLst>
          </p:cNvPr>
          <p:cNvSpPr txBox="1"/>
          <p:nvPr/>
        </p:nvSpPr>
        <p:spPr>
          <a:xfrm>
            <a:off x="4690872" y="4077175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Programming language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A31EC-0E1E-3405-E42C-A97B471E37C5}"/>
              </a:ext>
            </a:extLst>
          </p:cNvPr>
          <p:cNvSpPr txBox="1"/>
          <p:nvPr/>
        </p:nvSpPr>
        <p:spPr>
          <a:xfrm>
            <a:off x="4690872" y="4470366"/>
            <a:ext cx="2999232" cy="10241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600">
                <a:solidFill>
                  <a:srgbClr val="263238"/>
                </a:solidFill>
                <a:latin typeface="Aptos"/>
              </a:rPr>
              <a:t>Python / C / Java …
Focus: executable syntax</a:t>
            </a: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90D3D9E8-0B33-7984-12DC-03BB9EEA2706}"/>
              </a:ext>
            </a:extLst>
          </p:cNvPr>
          <p:cNvSpPr/>
          <p:nvPr/>
        </p:nvSpPr>
        <p:spPr>
          <a:xfrm>
            <a:off x="8165592" y="3949159"/>
            <a:ext cx="3383280" cy="164592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065D9-F87C-BD34-4259-D0E1715CAFC0}"/>
              </a:ext>
            </a:extLst>
          </p:cNvPr>
          <p:cNvSpPr/>
          <p:nvPr/>
        </p:nvSpPr>
        <p:spPr>
          <a:xfrm>
            <a:off x="8165592" y="3949159"/>
            <a:ext cx="73152" cy="164592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6811E8-2481-6778-4B14-24BE12E754EF}"/>
              </a:ext>
            </a:extLst>
          </p:cNvPr>
          <p:cNvSpPr txBox="1"/>
          <p:nvPr/>
        </p:nvSpPr>
        <p:spPr>
          <a:xfrm>
            <a:off x="8394192" y="4077175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Machine language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A32636-AF51-FE2D-0EBE-490FF463D2AB}"/>
              </a:ext>
            </a:extLst>
          </p:cNvPr>
          <p:cNvSpPr txBox="1"/>
          <p:nvPr/>
        </p:nvSpPr>
        <p:spPr>
          <a:xfrm>
            <a:off x="8394192" y="4690042"/>
            <a:ext cx="29260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457200"/>
            <a:r>
              <a:rPr sz="1600" dirty="0">
                <a:solidFill>
                  <a:srgbClr val="263238"/>
                </a:solidFill>
                <a:latin typeface="Aptos"/>
              </a:rPr>
              <a:t>Binary instructions executed by hardware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D6B62FEA-DC49-7C63-B0B0-02197D441E25}"/>
              </a:ext>
            </a:extLst>
          </p:cNvPr>
          <p:cNvSpPr txBox="1"/>
          <p:nvPr/>
        </p:nvSpPr>
        <p:spPr>
          <a:xfrm>
            <a:off x="214359" y="142407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399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989A-DCF2-A4FA-7421-55F24430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3582D5F4-7638-8581-E28F-450B6B2849AD}"/>
              </a:ext>
            </a:extLst>
          </p:cNvPr>
          <p:cNvSpPr/>
          <p:nvPr/>
        </p:nvSpPr>
        <p:spPr>
          <a:xfrm>
            <a:off x="210313" y="1600199"/>
            <a:ext cx="4983480" cy="2345268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D55558-E391-0DAE-D480-D4A158B7F7E2}"/>
              </a:ext>
            </a:extLst>
          </p:cNvPr>
          <p:cNvSpPr/>
          <p:nvPr/>
        </p:nvSpPr>
        <p:spPr>
          <a:xfrm>
            <a:off x="178309" y="1814435"/>
            <a:ext cx="73152" cy="182880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7F5751-914C-8A94-64A4-FAD2A2545561}"/>
              </a:ext>
            </a:extLst>
          </p:cNvPr>
          <p:cNvSpPr txBox="1"/>
          <p:nvPr/>
        </p:nvSpPr>
        <p:spPr>
          <a:xfrm>
            <a:off x="438913" y="1728216"/>
            <a:ext cx="4617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82D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4420F-7116-7F27-CEED-11D07FD1D926}"/>
              </a:ext>
            </a:extLst>
          </p:cNvPr>
          <p:cNvSpPr txBox="1"/>
          <p:nvPr/>
        </p:nvSpPr>
        <p:spPr>
          <a:xfrm>
            <a:off x="470916" y="2088963"/>
            <a:ext cx="4462273" cy="155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conceptual, step-by-step set of logical instructions designed to solve a specific problem. It is independent of any computer hardware or programming language.</a:t>
            </a:r>
            <a:endParaRPr kumimoji="0" sz="1900" b="0" i="0" u="none" strike="noStrike" kern="120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2C29DDE4-2EC0-5523-ED93-79DF89AE4B75}"/>
              </a:ext>
            </a:extLst>
          </p:cNvPr>
          <p:cNvSpPr/>
          <p:nvPr/>
        </p:nvSpPr>
        <p:spPr>
          <a:xfrm>
            <a:off x="6056206" y="1640907"/>
            <a:ext cx="4983480" cy="2345268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E91DC-97C6-64A8-DD0E-6919DC44AE29}"/>
              </a:ext>
            </a:extLst>
          </p:cNvPr>
          <p:cNvSpPr/>
          <p:nvPr/>
        </p:nvSpPr>
        <p:spPr>
          <a:xfrm>
            <a:off x="6007608" y="1858433"/>
            <a:ext cx="73152" cy="182880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08070F-28EE-9F17-5CC6-BA0F1B0DBD45}"/>
              </a:ext>
            </a:extLst>
          </p:cNvPr>
          <p:cNvSpPr txBox="1"/>
          <p:nvPr/>
        </p:nvSpPr>
        <p:spPr>
          <a:xfrm>
            <a:off x="6284806" y="1768923"/>
            <a:ext cx="4617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82D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DEDD4-68D7-BD79-EE74-3A117F473BD6}"/>
              </a:ext>
            </a:extLst>
          </p:cNvPr>
          <p:cNvSpPr txBox="1"/>
          <p:nvPr/>
        </p:nvSpPr>
        <p:spPr>
          <a:xfrm>
            <a:off x="6284806" y="2213376"/>
            <a:ext cx="4617720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practical implementation of an algorithm written in a specific programming language (such as Python, C, or Java) so that a computer can execute it.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63238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0B2854-159F-468F-7F1A-0C5B72D717DD}"/>
              </a:ext>
            </a:extLst>
          </p:cNvPr>
          <p:cNvSpPr txBox="1"/>
          <p:nvPr/>
        </p:nvSpPr>
        <p:spPr>
          <a:xfrm>
            <a:off x="3970336" y="4716580"/>
            <a:ext cx="301858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229D9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Algorithm ≠ Program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D2D45EC6-51A1-EDC8-FAD1-7E001395FF3F}"/>
              </a:ext>
            </a:extLst>
          </p:cNvPr>
          <p:cNvSpPr txBox="1"/>
          <p:nvPr/>
        </p:nvSpPr>
        <p:spPr>
          <a:xfrm>
            <a:off x="318346" y="5592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-120"/>
              </a:rPr>
              <a:t>3. ALGORITHMS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10BB52E3-21F8-45A8-8599-B0514E1586BA}"/>
              </a:ext>
            </a:extLst>
          </p:cNvPr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vs. program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8753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3040" y="2709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ALGORITHMS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vs. program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88620" y="2834640"/>
            <a:ext cx="5394960" cy="2103120"/>
          </a:xfrm>
          <a:prstGeom prst="roundRect">
            <a:avLst>
              <a:gd name="adj" fmla="val 4348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2834640"/>
            <a:ext cx="5394960" cy="2103120"/>
          </a:xfrm>
          <a:prstGeom prst="roundRect">
            <a:avLst>
              <a:gd name="adj" fmla="val 4348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= the method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5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FF00"/>
                </a:solidFill>
              </a:rPr>
              <a:t>Algorithm = The Recipe: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</a:p>
          <a:p>
            <a:pPr marL="0" indent="0" algn="just">
              <a:buNone/>
            </a:pPr>
            <a:endParaRPr lang="en-US" sz="2000" dirty="0">
              <a:solidFill>
                <a:srgbClr val="FFFF00"/>
              </a:solidFill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A recipe written on paper in human language explaining how to bake a cake step-by-step. Anyone who reads French or English can understand the logic.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6492240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= the translation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Program = The Baking Process:</a:t>
            </a:r>
            <a:r>
              <a:rPr lang="en-US" dirty="0">
                <a:solidFill>
                  <a:schemeClr val="bg1"/>
                </a:solidFill>
              </a:rPr>
              <a:t> The actual actions performed using ingredients, kitchen equipment, and energy to bake the cake following that recipe.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534419-30DE-50A7-5D5B-19E3DD0DFE21}"/>
              </a:ext>
            </a:extLst>
          </p:cNvPr>
          <p:cNvSpPr txBox="1"/>
          <p:nvPr/>
        </p:nvSpPr>
        <p:spPr>
          <a:xfrm>
            <a:off x="496993" y="16441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E8A"/>
                </a:solidFill>
              </a:rPr>
              <a:t>Real-World Analogy: The Cooking Recipe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69864-777B-BEC3-42B3-EADC6E883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5714A2-60B8-AF28-72F6-3739C6649FB9}"/>
              </a:ext>
            </a:extLst>
          </p:cNvPr>
          <p:cNvSpPr txBox="1"/>
          <p:nvPr/>
        </p:nvSpPr>
        <p:spPr>
          <a:xfrm>
            <a:off x="193040" y="2709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4D182E-C029-B85E-FDBE-9AB73EB5FEDB}"/>
              </a:ext>
            </a:extLst>
          </p:cNvPr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Algorithm vs. program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8723BE-6F9F-0B74-EE2D-7DB83517FEB0}"/>
              </a:ext>
            </a:extLst>
          </p:cNvPr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B0E6D6-E74A-B6BC-F34A-5B91FF3D497C}"/>
              </a:ext>
            </a:extLst>
          </p:cNvPr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CA38F50-072C-7ABD-5DFC-01659BFEB9F6}"/>
              </a:ext>
            </a:extLst>
          </p:cNvPr>
          <p:cNvSpPr/>
          <p:nvPr/>
        </p:nvSpPr>
        <p:spPr>
          <a:xfrm>
            <a:off x="373803" y="2294374"/>
            <a:ext cx="5394960" cy="3429000"/>
          </a:xfrm>
          <a:prstGeom prst="roundRect">
            <a:avLst>
              <a:gd name="adj" fmla="val 4348"/>
            </a:avLst>
          </a:prstGeom>
          <a:solidFill>
            <a:srgbClr val="00206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F07FF0-1891-33AC-3730-14664AE99D1C}"/>
              </a:ext>
            </a:extLst>
          </p:cNvPr>
          <p:cNvSpPr/>
          <p:nvPr/>
        </p:nvSpPr>
        <p:spPr>
          <a:xfrm>
            <a:off x="6203103" y="2294374"/>
            <a:ext cx="5394960" cy="3429000"/>
          </a:xfrm>
          <a:prstGeom prst="roundRect">
            <a:avLst>
              <a:gd name="adj" fmla="val 4348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DA4DBDD-8962-7F31-5D34-3A543C0C87DA}"/>
              </a:ext>
            </a:extLst>
          </p:cNvPr>
          <p:cNvSpPr txBox="1"/>
          <p:nvPr/>
        </p:nvSpPr>
        <p:spPr>
          <a:xfrm>
            <a:off x="808143" y="247725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ALGORITHM = the method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42123F-3EFD-1926-4DC2-38DAC07293D2}"/>
              </a:ext>
            </a:extLst>
          </p:cNvPr>
          <p:cNvSpPr txBox="1"/>
          <p:nvPr/>
        </p:nvSpPr>
        <p:spPr>
          <a:xfrm>
            <a:off x="533823" y="2345174"/>
            <a:ext cx="4846320" cy="44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Algorithm (Conceptual Logic)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Read two numbers, 𝐴and 𝐵.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Compare 𝐴and 𝐵.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If 𝐴is greater than 𝐵, the result is 𝐴.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Otherwise, the result is 𝐵.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Display the result.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0E40C2-631B-655C-9621-E75F6DC9B4E4}"/>
              </a:ext>
            </a:extLst>
          </p:cNvPr>
          <p:cNvSpPr txBox="1"/>
          <p:nvPr/>
        </p:nvSpPr>
        <p:spPr>
          <a:xfrm>
            <a:off x="6477423" y="247725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PROGRAM = (Executable Python Code)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5A31B97-51FC-F725-CECD-54A0EDF75BC5}"/>
              </a:ext>
            </a:extLst>
          </p:cNvPr>
          <p:cNvSpPr txBox="1"/>
          <p:nvPr/>
        </p:nvSpPr>
        <p:spPr>
          <a:xfrm>
            <a:off x="6477423" y="2934454"/>
            <a:ext cx="4846320" cy="2520388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= float(input("Enter first number: 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= float(input("Enter second number: 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a &gt;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f"The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maximum number is: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}")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E8B13B-CA97-2E5B-02E0-82F382DD7915}"/>
              </a:ext>
            </a:extLst>
          </p:cNvPr>
          <p:cNvSpPr txBox="1"/>
          <p:nvPr/>
        </p:nvSpPr>
        <p:spPr>
          <a:xfrm>
            <a:off x="373803" y="1315627"/>
            <a:ext cx="8579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E8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Concrete Example: Finding the Larger of Two Numbers</a:t>
            </a:r>
          </a:p>
        </p:txBody>
      </p:sp>
    </p:spTree>
    <p:extLst>
      <p:ext uri="{BB962C8B-B14F-4D97-AF65-F5344CB8AC3E}">
        <p14:creationId xmlns:p14="http://schemas.microsoft.com/office/powerpoint/2010/main" val="269481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BA790B-4253-25A8-6F01-69822E2076CD}"/>
              </a:ext>
            </a:extLst>
          </p:cNvPr>
          <p:cNvSpPr txBox="1"/>
          <p:nvPr/>
        </p:nvSpPr>
        <p:spPr>
          <a:xfrm>
            <a:off x="609600" y="950976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>
                <a:solidFill>
                  <a:srgbClr val="182D3A"/>
                </a:solidFill>
                <a:latin typeface="Aptos"/>
              </a:rPr>
              <a:t>Why Python?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B991179E-02D6-36A1-F48C-5FFE81BE35B1}"/>
              </a:ext>
            </a:extLst>
          </p:cNvPr>
          <p:cNvSpPr/>
          <p:nvPr/>
        </p:nvSpPr>
        <p:spPr>
          <a:xfrm>
            <a:off x="746760" y="1773936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D069B5-D0F9-D08F-3BBE-3198FEF6E7C7}"/>
              </a:ext>
            </a:extLst>
          </p:cNvPr>
          <p:cNvSpPr/>
          <p:nvPr/>
        </p:nvSpPr>
        <p:spPr>
          <a:xfrm>
            <a:off x="746760" y="1773936"/>
            <a:ext cx="73152" cy="146304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EC9B4-FBD6-E3B8-0D31-9FA5A554EC1F}"/>
              </a:ext>
            </a:extLst>
          </p:cNvPr>
          <p:cNvSpPr txBox="1"/>
          <p:nvPr/>
        </p:nvSpPr>
        <p:spPr>
          <a:xfrm>
            <a:off x="975360" y="1901952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READABLE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FFB59-5060-EB06-68CE-2EC1DB006F61}"/>
              </a:ext>
            </a:extLst>
          </p:cNvPr>
          <p:cNvSpPr txBox="1"/>
          <p:nvPr/>
        </p:nvSpPr>
        <p:spPr>
          <a:xfrm>
            <a:off x="975360" y="2295143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Syntax supports clear reasoning.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04DA19BF-09F8-A9AE-DC33-EB310D90A647}"/>
              </a:ext>
            </a:extLst>
          </p:cNvPr>
          <p:cNvSpPr/>
          <p:nvPr/>
        </p:nvSpPr>
        <p:spPr>
          <a:xfrm>
            <a:off x="6324600" y="1773936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D83500-E150-C900-AB6F-0E6675FA234F}"/>
              </a:ext>
            </a:extLst>
          </p:cNvPr>
          <p:cNvSpPr/>
          <p:nvPr/>
        </p:nvSpPr>
        <p:spPr>
          <a:xfrm>
            <a:off x="6324600" y="1773936"/>
            <a:ext cx="73152" cy="146304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45E9A-786A-9ACC-D99F-6D13CB4297C0}"/>
              </a:ext>
            </a:extLst>
          </p:cNvPr>
          <p:cNvSpPr txBox="1"/>
          <p:nvPr/>
        </p:nvSpPr>
        <p:spPr>
          <a:xfrm>
            <a:off x="6553200" y="1901952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SCIENTIFIC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69393-A452-0CE0-C846-C89299530CA9}"/>
              </a:ext>
            </a:extLst>
          </p:cNvPr>
          <p:cNvSpPr txBox="1"/>
          <p:nvPr/>
        </p:nvSpPr>
        <p:spPr>
          <a:xfrm>
            <a:off x="6553200" y="2295143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Widely used for data, science and AI.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63FD35E9-9069-4DF4-3859-21023158E7E3}"/>
              </a:ext>
            </a:extLst>
          </p:cNvPr>
          <p:cNvSpPr/>
          <p:nvPr/>
        </p:nvSpPr>
        <p:spPr>
          <a:xfrm>
            <a:off x="746760" y="3739896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AEBAB-7E1F-2A0B-DE20-F1E8EBCF06B5}"/>
              </a:ext>
            </a:extLst>
          </p:cNvPr>
          <p:cNvSpPr/>
          <p:nvPr/>
        </p:nvSpPr>
        <p:spPr>
          <a:xfrm>
            <a:off x="746760" y="3739896"/>
            <a:ext cx="73152" cy="146304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92F2F8-5CDD-90D8-692F-73D50A9EECA6}"/>
              </a:ext>
            </a:extLst>
          </p:cNvPr>
          <p:cNvSpPr txBox="1"/>
          <p:nvPr/>
        </p:nvSpPr>
        <p:spPr>
          <a:xfrm>
            <a:off x="975360" y="3867912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FLEXIBLE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DD90EF-CB50-951A-59D8-4DDDE8BA1DA8}"/>
              </a:ext>
            </a:extLst>
          </p:cNvPr>
          <p:cNvSpPr txBox="1"/>
          <p:nvPr/>
        </p:nvSpPr>
        <p:spPr>
          <a:xfrm>
            <a:off x="975360" y="4261103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From simple calculations to advanced projects.</a:t>
            </a:r>
          </a:p>
        </p:txBody>
      </p:sp>
      <p:sp>
        <p:nvSpPr>
          <p:cNvPr id="15" name="Rounded Rectangle 19">
            <a:extLst>
              <a:ext uri="{FF2B5EF4-FFF2-40B4-BE49-F238E27FC236}">
                <a16:creationId xmlns:a16="http://schemas.microsoft.com/office/drawing/2014/main" id="{085E1D44-AF5E-1631-573D-3914AA510F59}"/>
              </a:ext>
            </a:extLst>
          </p:cNvPr>
          <p:cNvSpPr/>
          <p:nvPr/>
        </p:nvSpPr>
        <p:spPr>
          <a:xfrm>
            <a:off x="6324600" y="3739896"/>
            <a:ext cx="5166360" cy="146304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AFD3A1-9874-7927-B6AA-9ECA5EC97844}"/>
              </a:ext>
            </a:extLst>
          </p:cNvPr>
          <p:cNvSpPr/>
          <p:nvPr/>
        </p:nvSpPr>
        <p:spPr>
          <a:xfrm>
            <a:off x="6324600" y="3739896"/>
            <a:ext cx="73152" cy="1463040"/>
          </a:xfrm>
          <a:prstGeom prst="rect">
            <a:avLst/>
          </a:prstGeom>
          <a:solidFill>
            <a:srgbClr val="9AD5BC"/>
          </a:solidFill>
          <a:ln w="9525" cap="flat" cmpd="sng" algn="ctr">
            <a:solidFill>
              <a:srgbClr val="9AD5BC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1AFB97-7AE3-E954-4E8E-D161680908E9}"/>
              </a:ext>
            </a:extLst>
          </p:cNvPr>
          <p:cNvSpPr txBox="1"/>
          <p:nvPr/>
        </p:nvSpPr>
        <p:spPr>
          <a:xfrm>
            <a:off x="6553200" y="3867912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ECOSYSTEM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B5B368-8785-A16E-8CE4-3B13ADD6BF5D}"/>
              </a:ext>
            </a:extLst>
          </p:cNvPr>
          <p:cNvSpPr txBox="1"/>
          <p:nvPr/>
        </p:nvSpPr>
        <p:spPr>
          <a:xfrm>
            <a:off x="6553200" y="4261103"/>
            <a:ext cx="4782312" cy="8412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Many libraries support scientific work.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33897D-2F7C-BC1C-EFC2-8CCBCD86D6B6}"/>
              </a:ext>
            </a:extLst>
          </p:cNvPr>
          <p:cNvSpPr txBox="1"/>
          <p:nvPr/>
        </p:nvSpPr>
        <p:spPr>
          <a:xfrm>
            <a:off x="1021080" y="5843016"/>
            <a:ext cx="10241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b="1">
                <a:solidFill>
                  <a:srgbClr val="182D3A"/>
                </a:solidFill>
                <a:latin typeface="Aptos"/>
              </a:rPr>
              <a:t>Goal: use computation to solve scientific problems.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13D89641-CA40-C06E-E07B-9755106E6D6F}"/>
              </a:ext>
            </a:extLst>
          </p:cNvPr>
          <p:cNvSpPr txBox="1"/>
          <p:nvPr/>
        </p:nvSpPr>
        <p:spPr>
          <a:xfrm>
            <a:off x="193040" y="18906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363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773" y="88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 · ALGORITHMS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4B76F2-3184-E076-5CD1-19935097E1ED}"/>
              </a:ext>
            </a:extLst>
          </p:cNvPr>
          <p:cNvSpPr txBox="1"/>
          <p:nvPr/>
        </p:nvSpPr>
        <p:spPr>
          <a:xfrm>
            <a:off x="142240" y="571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Basic Static Algorithm ("Hello, World!")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F281BD-B86F-7CA9-7DE6-8EF31E591808}"/>
              </a:ext>
            </a:extLst>
          </p:cNvPr>
          <p:cNvSpPr txBox="1"/>
          <p:nvPr/>
        </p:nvSpPr>
        <p:spPr>
          <a:xfrm>
            <a:off x="142240" y="1128182"/>
            <a:ext cx="4260427" cy="1328023"/>
          </a:xfrm>
          <a:prstGeom prst="round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 (Pseudocode)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"Hello, World!"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C5A520-A9FB-A22F-680C-29E69D89466B}"/>
              </a:ext>
            </a:extLst>
          </p:cNvPr>
          <p:cNvSpPr txBox="1"/>
          <p:nvPr/>
        </p:nvSpPr>
        <p:spPr>
          <a:xfrm>
            <a:off x="6769946" y="571702"/>
            <a:ext cx="4614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Implementations (Python)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600531-38CD-3355-D3B7-0D61FE717236}"/>
              </a:ext>
            </a:extLst>
          </p:cNvPr>
          <p:cNvSpPr txBox="1"/>
          <p:nvPr/>
        </p:nvSpPr>
        <p:spPr>
          <a:xfrm>
            <a:off x="6981613" y="1046630"/>
            <a:ext cx="3330787" cy="1328023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Hello, World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D8EB7A-CB15-21B1-39E2-B29011A63FBB}"/>
              </a:ext>
            </a:extLst>
          </p:cNvPr>
          <p:cNvSpPr txBox="1"/>
          <p:nvPr/>
        </p:nvSpPr>
        <p:spPr>
          <a:xfrm>
            <a:off x="142240" y="2842081"/>
            <a:ext cx="6627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Interactive Algorithm  ("Hello, [Name]!")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version explicitly demonstrates the complete information processing cycle.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D8D340-04E2-6678-EF29-27DE029E93ED}"/>
              </a:ext>
            </a:extLst>
          </p:cNvPr>
          <p:cNvSpPr txBox="1"/>
          <p:nvPr/>
        </p:nvSpPr>
        <p:spPr>
          <a:xfrm>
            <a:off x="142239" y="4259585"/>
            <a:ext cx="6627707" cy="1940957"/>
          </a:xfrm>
          <a:prstGeom prst="round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 (Pseudocode)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INPUT: Prompt user to enter their name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PROCESSING: Combine "Hello, " +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+ "!" into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greetingMessage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OUTPUT: Display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greetingMessage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END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EB8BFC-17FF-8737-8EA9-2B32C6BE8F35}"/>
              </a:ext>
            </a:extLst>
          </p:cNvPr>
          <p:cNvSpPr txBox="1"/>
          <p:nvPr/>
        </p:nvSpPr>
        <p:spPr>
          <a:xfrm>
            <a:off x="6981613" y="2791584"/>
            <a:ext cx="4402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 Implementation (Python)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5F6C42-0DF4-777B-46C4-4AFE9A149084}"/>
              </a:ext>
            </a:extLst>
          </p:cNvPr>
          <p:cNvSpPr txBox="1"/>
          <p:nvPr/>
        </p:nvSpPr>
        <p:spPr>
          <a:xfrm>
            <a:off x="6981613" y="3577848"/>
            <a:ext cx="4981786" cy="286035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1. Input step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input("Enter your name: 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2. Processing step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greeting_message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f"Hello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}!"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3. Output step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print(greeting_message)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2217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· DATA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63880" y="4343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Constants, variables and basic types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Constants: Fixed values that remain unchanged throughout execution (PI = 3.14, N = 100). 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39" y="3094968"/>
          <a:ext cx="1106424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Pseudocode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-12, 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Real/float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3.14, -0.5, 12.0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r>
                        <a:rPr lang="en-US" sz="1400" dirty="0"/>
                        <a:t>/ String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or individual  symbol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'A’, “Hello”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(length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truth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True, False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308A37E-D830-54D8-7F51-F6AE00E02B27}"/>
              </a:ext>
            </a:extLst>
          </p:cNvPr>
          <p:cNvSpPr txBox="1"/>
          <p:nvPr/>
        </p:nvSpPr>
        <p:spPr>
          <a:xfrm>
            <a:off x="548639" y="1139874"/>
            <a:ext cx="10745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Algorithms use essential building blocks to structure and process data: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5D8D3-BB2D-82D6-BF3C-E5CE3D70479E}"/>
              </a:ext>
            </a:extLst>
          </p:cNvPr>
          <p:cNvSpPr txBox="1"/>
          <p:nvPr/>
        </p:nvSpPr>
        <p:spPr>
          <a:xfrm>
            <a:off x="504611" y="2479747"/>
            <a:ext cx="99601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Variable: Named memory spaces whose values can change during execution, categorized by Data Types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· OPERATORS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554480"/>
          <a:ext cx="11064240" cy="332841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→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 / subtraction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  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  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+ 3 →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* 2 →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division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/ 2 → 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division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div 2 →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Remainder (modulo)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mod 2 →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^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** 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^ 3 →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div and mod are the tools for digits, parity and time conversions (see the practice exercises).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· OPERATORS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and logical operators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463040"/>
          <a:ext cx="548640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Pseudocode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≠  or  &lt;&gt;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/ greater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  &gt;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  &gt;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/ ≥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  ≥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  &gt;=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/>
        </p:nvGraphicFramePr>
        <p:xfrm>
          <a:off x="6309360" y="1463040"/>
          <a:ext cx="5303520" cy="23774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AND 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OR 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Example: (x &gt; 5) AND (y &lt; 10) is true only when both conditions hold. In pseudocode, = tests equality; assignment uses ←.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 · OPERATORS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 and assignment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4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EAF4F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constants, variables and operators. Arithmetic: z ← (x + y) * 3.  Logical: ok ← (a ≥ 0) AND (b ≥ 0).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Priority: ( ) → power → * / div mod → + - → comparisons → NOT → AND → OR.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variable ← expression: evaluate the right side, then store the result in the variable.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2240" y="3108960"/>
            <a:ext cx="4846320" cy="2468880"/>
          </a:xfrm>
          <a:prstGeom prst="roundRect">
            <a:avLst>
              <a:gd name="adj" fmla="val 3704"/>
            </a:avLst>
          </a:prstGeom>
          <a:solidFill>
            <a:srgbClr val="141B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720840" y="32918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← 10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← x + 5      // y = 15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← x + 1      // x = 11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is NOT mathematical equality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· INPUT/OUTPUT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Read and Write become input() and print()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41B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16459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Sum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 x1, x2, x3 : Real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 x1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 x2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x3 ← x1 + x2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 "The sum is ", x3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141B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46520" y="16459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= float(input("x1: "))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 = float(input("x2: "))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 = x1 + x2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print("The sum is", x3)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E8AB0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input: 5 and 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7BC62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The sum is 12.0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input() returns text, so convert it with float() or int() before calculating.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· INPUT/OUTPUT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same algorithm as a flowchart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89120" y="1417320"/>
            <a:ext cx="3291840" cy="594360"/>
          </a:xfrm>
          <a:prstGeom prst="flowChartTerminator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389120" y="1417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35040" y="201168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2423160"/>
            <a:ext cx="3291840" cy="594360"/>
          </a:xfrm>
          <a:prstGeom prst="flowChartInputOutput">
            <a:avLst/>
          </a:prstGeom>
          <a:solidFill>
            <a:srgbClr val="EAF4F8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38912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 x1, x2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301752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89120" y="3429000"/>
            <a:ext cx="3291840" cy="594360"/>
          </a:xfrm>
          <a:prstGeom prst="flowChartProcess">
            <a:avLst/>
          </a:prstGeom>
          <a:solidFill>
            <a:srgbClr val="FBF1DF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38912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x3 ← x1 + x2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402336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89120" y="4434840"/>
            <a:ext cx="3291840" cy="594360"/>
          </a:xfrm>
          <a:prstGeom prst="flowChartInputOutput">
            <a:avLst/>
          </a:prstGeom>
          <a:solidFill>
            <a:srgbClr val="EAF4F8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389120" y="4434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Write x3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035040" y="5029200"/>
            <a:ext cx="0" cy="4114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89120" y="5440680"/>
            <a:ext cx="3291840" cy="594360"/>
          </a:xfrm>
          <a:prstGeom prst="flowChartTerminator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389120" y="5440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837715" y="1965960"/>
            <a:ext cx="4093022" cy="320040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Oval: start/end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Parallelogram: input/output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Rectangle: calculation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Diamond: decision (next chapters)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548640" y="2926080"/>
            <a:ext cx="3474720" cy="914400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the order of execution.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7· TESTING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1295C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Tracing an algorithm with a trace table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B6B7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 the algorithm by hand with real values and record each variable after every instruction. Input: x1 = 5, x2 = 7.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2194560"/>
          <a:ext cx="11064240" cy="23774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x1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x2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x3 ← x1 + x2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x3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sum is 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Tracing finds logic errors before the computer does — the single best debugging habit to build.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D22B33-96FD-62A5-40A0-67144BBEC379}"/>
              </a:ext>
            </a:extLst>
          </p:cNvPr>
          <p:cNvSpPr txBox="1"/>
          <p:nvPr/>
        </p:nvSpPr>
        <p:spPr>
          <a:xfrm>
            <a:off x="576072" y="1499615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>
                <a:solidFill>
                  <a:srgbClr val="182D3A"/>
                </a:solidFill>
                <a:latin typeface="Aptos"/>
              </a:rPr>
              <a:t>Interactive challenge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A9F88F30-0255-60CE-ADA2-E207F4D7DD5D}"/>
              </a:ext>
            </a:extLst>
          </p:cNvPr>
          <p:cNvSpPr/>
          <p:nvPr/>
        </p:nvSpPr>
        <p:spPr>
          <a:xfrm>
            <a:off x="896112" y="2551175"/>
            <a:ext cx="5102352" cy="20116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C0466-1A80-3BA3-9163-68BEB90F9842}"/>
              </a:ext>
            </a:extLst>
          </p:cNvPr>
          <p:cNvSpPr/>
          <p:nvPr/>
        </p:nvSpPr>
        <p:spPr>
          <a:xfrm>
            <a:off x="896112" y="2551175"/>
            <a:ext cx="73152" cy="201168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B5161-7E41-6262-1BC2-166F053AB0BC}"/>
              </a:ext>
            </a:extLst>
          </p:cNvPr>
          <p:cNvSpPr txBox="1"/>
          <p:nvPr/>
        </p:nvSpPr>
        <p:spPr>
          <a:xfrm>
            <a:off x="1124712" y="2679191"/>
            <a:ext cx="4297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F2489-EB74-D30B-48A2-9EBA4D238F89}"/>
              </a:ext>
            </a:extLst>
          </p:cNvPr>
          <p:cNvSpPr txBox="1"/>
          <p:nvPr/>
        </p:nvSpPr>
        <p:spPr>
          <a:xfrm>
            <a:off x="1124712" y="3072382"/>
            <a:ext cx="4279392" cy="1389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700" dirty="0">
                <a:solidFill>
                  <a:srgbClr val="263238"/>
                </a:solidFill>
                <a:latin typeface="Aptos"/>
              </a:rPr>
              <a:t>“Calculate the average of three temperatures.”
Is this already an algorithm?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73A0B91E-F8B3-22B4-638E-DB0D657CC9C6}"/>
              </a:ext>
            </a:extLst>
          </p:cNvPr>
          <p:cNvSpPr/>
          <p:nvPr/>
        </p:nvSpPr>
        <p:spPr>
          <a:xfrm>
            <a:off x="6153912" y="2551175"/>
            <a:ext cx="5394960" cy="201168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741DA-F683-FDB7-DD62-99348BE7A697}"/>
              </a:ext>
            </a:extLst>
          </p:cNvPr>
          <p:cNvSpPr/>
          <p:nvPr/>
        </p:nvSpPr>
        <p:spPr>
          <a:xfrm>
            <a:off x="6153912" y="2551175"/>
            <a:ext cx="73152" cy="201168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79466-9289-D32A-90ED-5F351205E1D2}"/>
              </a:ext>
            </a:extLst>
          </p:cNvPr>
          <p:cNvSpPr txBox="1"/>
          <p:nvPr/>
        </p:nvSpPr>
        <p:spPr>
          <a:xfrm>
            <a:off x="6382512" y="2679191"/>
            <a:ext cx="4297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Your task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910C5-FDC2-B39D-8277-5DC8F024B8E3}"/>
              </a:ext>
            </a:extLst>
          </p:cNvPr>
          <p:cNvSpPr txBox="1"/>
          <p:nvPr/>
        </p:nvSpPr>
        <p:spPr>
          <a:xfrm>
            <a:off x="6382512" y="3072382"/>
            <a:ext cx="4279392" cy="1389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700" dirty="0">
                <a:solidFill>
                  <a:srgbClr val="263238"/>
                </a:solidFill>
                <a:latin typeface="Aptos"/>
              </a:rPr>
              <a:t>Identify inputs • operations • output • order of steps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1A0B0D-42E7-C466-A6B0-05E480E33F0D}"/>
              </a:ext>
            </a:extLst>
          </p:cNvPr>
          <p:cNvSpPr txBox="1"/>
          <p:nvPr/>
        </p:nvSpPr>
        <p:spPr>
          <a:xfrm>
            <a:off x="2176272" y="5477255"/>
            <a:ext cx="80467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 defTabSz="457200"/>
            <a:r>
              <a:rPr sz="2000" b="1">
                <a:solidFill>
                  <a:srgbClr val="267E63"/>
                </a:solidFill>
                <a:latin typeface="Aptos"/>
              </a:rPr>
              <a:t>THINK  →  DISCUSS  →  PROPOSE AN ALGORITHM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2B74A-E28B-572F-6D96-6AEE6465E846}"/>
              </a:ext>
            </a:extLst>
          </p:cNvPr>
          <p:cNvSpPr txBox="1"/>
          <p:nvPr/>
        </p:nvSpPr>
        <p:spPr>
          <a:xfrm>
            <a:off x="502920" y="284522"/>
            <a:ext cx="1196161" cy="2539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lang="en-US" sz="1050" b="1" dirty="0">
                <a:solidFill>
                  <a:schemeClr val="accent1">
                    <a:lumMod val="75000"/>
                  </a:schemeClr>
                </a:solidFill>
              </a:rPr>
              <a:t>8. </a:t>
            </a:r>
            <a:r>
              <a:rPr sz="1050" b="1" dirty="0">
                <a:solidFill>
                  <a:schemeClr val="accent1">
                    <a:lumMod val="75000"/>
                  </a:schemeClr>
                </a:solidFill>
              </a:rPr>
              <a:t>CLASS ACTIVITY</a:t>
            </a:r>
          </a:p>
        </p:txBody>
      </p:sp>
    </p:spTree>
    <p:extLst>
      <p:ext uri="{BB962C8B-B14F-4D97-AF65-F5344CB8AC3E}">
        <p14:creationId xmlns:p14="http://schemas.microsoft.com/office/powerpoint/2010/main" val="39332261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00B31E-08BC-3622-FBFC-67FB5BFC60FA}"/>
              </a:ext>
            </a:extLst>
          </p:cNvPr>
          <p:cNvSpPr txBox="1"/>
          <p:nvPr/>
        </p:nvSpPr>
        <p:spPr>
          <a:xfrm>
            <a:off x="233097" y="105489"/>
            <a:ext cx="206498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000" b="1" dirty="0">
                <a:solidFill>
                  <a:schemeClr val="bg1"/>
                </a:solidFill>
                <a:latin typeface="Aptos"/>
              </a:rPr>
              <a:t>CHECK YOUR UNDERSTANDING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71CF2-8B14-0D3E-43A9-C8A03859B772}"/>
              </a:ext>
            </a:extLst>
          </p:cNvPr>
          <p:cNvSpPr txBox="1"/>
          <p:nvPr/>
        </p:nvSpPr>
        <p:spPr>
          <a:xfrm>
            <a:off x="502920" y="637624"/>
            <a:ext cx="1585690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2700" b="1" dirty="0">
                <a:solidFill>
                  <a:srgbClr val="FFFF00"/>
                </a:solidFill>
                <a:latin typeface="Aptos"/>
              </a:rPr>
              <a:t>Mini quiz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7B2B7235-9194-1589-D2C4-F168977DC482}"/>
              </a:ext>
            </a:extLst>
          </p:cNvPr>
          <p:cNvSpPr/>
          <p:nvPr/>
        </p:nvSpPr>
        <p:spPr>
          <a:xfrm>
            <a:off x="594360" y="1325880"/>
            <a:ext cx="51663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CF5A6-8BB2-8602-4C66-4EAC5C0B2B13}"/>
              </a:ext>
            </a:extLst>
          </p:cNvPr>
          <p:cNvSpPr/>
          <p:nvPr/>
        </p:nvSpPr>
        <p:spPr>
          <a:xfrm>
            <a:off x="594360" y="1325880"/>
            <a:ext cx="73152" cy="1508760"/>
          </a:xfrm>
          <a:prstGeom prst="rect">
            <a:avLst/>
          </a:prstGeom>
          <a:solidFill>
            <a:srgbClr val="267E63"/>
          </a:solidFill>
          <a:ln w="9525" cap="flat" cmpd="sng" algn="ctr">
            <a:solidFill>
              <a:srgbClr val="267E63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B032E6-0410-D244-7536-E390164CA2B3}"/>
              </a:ext>
            </a:extLst>
          </p:cNvPr>
          <p:cNvSpPr txBox="1"/>
          <p:nvPr/>
        </p:nvSpPr>
        <p:spPr>
          <a:xfrm>
            <a:off x="822960" y="1453896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51E0C-A7F3-5A20-11A8-BC3B200E28F9}"/>
              </a:ext>
            </a:extLst>
          </p:cNvPr>
          <p:cNvSpPr txBox="1"/>
          <p:nvPr/>
        </p:nvSpPr>
        <p:spPr>
          <a:xfrm>
            <a:off x="822960" y="1847087"/>
            <a:ext cx="47823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What is an algorithm?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61451F29-49B7-2162-0A28-68899E845CBF}"/>
              </a:ext>
            </a:extLst>
          </p:cNvPr>
          <p:cNvSpPr/>
          <p:nvPr/>
        </p:nvSpPr>
        <p:spPr>
          <a:xfrm>
            <a:off x="6217920" y="1325880"/>
            <a:ext cx="51663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37612-CE34-9E83-629F-784517DA00BA}"/>
              </a:ext>
            </a:extLst>
          </p:cNvPr>
          <p:cNvSpPr/>
          <p:nvPr/>
        </p:nvSpPr>
        <p:spPr>
          <a:xfrm>
            <a:off x="6217920" y="1325880"/>
            <a:ext cx="73152" cy="1508760"/>
          </a:xfrm>
          <a:prstGeom prst="rect">
            <a:avLst/>
          </a:prstGeom>
          <a:solidFill>
            <a:srgbClr val="229D99"/>
          </a:solidFill>
          <a:ln w="9525" cap="flat" cmpd="sng" algn="ctr">
            <a:solidFill>
              <a:srgbClr val="229D99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E2D3B-437D-B574-CCC5-DA5DA1244D92}"/>
              </a:ext>
            </a:extLst>
          </p:cNvPr>
          <p:cNvSpPr txBox="1"/>
          <p:nvPr/>
        </p:nvSpPr>
        <p:spPr>
          <a:xfrm>
            <a:off x="6446520" y="1453896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D5AA2-660A-46B5-C62B-AF3970346762}"/>
              </a:ext>
            </a:extLst>
          </p:cNvPr>
          <p:cNvSpPr txBox="1"/>
          <p:nvPr/>
        </p:nvSpPr>
        <p:spPr>
          <a:xfrm>
            <a:off x="6446520" y="1847087"/>
            <a:ext cx="47823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Which is language-independent: algorithm or program?</a:t>
            </a:r>
          </a:p>
        </p:txBody>
      </p: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310EB318-E8F3-AC58-51FF-EC20B265B28B}"/>
              </a:ext>
            </a:extLst>
          </p:cNvPr>
          <p:cNvSpPr/>
          <p:nvPr/>
        </p:nvSpPr>
        <p:spPr>
          <a:xfrm>
            <a:off x="594360" y="3337560"/>
            <a:ext cx="51663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BCCF53-34D0-68A5-A8E9-34810E695E26}"/>
              </a:ext>
            </a:extLst>
          </p:cNvPr>
          <p:cNvSpPr/>
          <p:nvPr/>
        </p:nvSpPr>
        <p:spPr>
          <a:xfrm>
            <a:off x="594360" y="3337560"/>
            <a:ext cx="73152" cy="1508760"/>
          </a:xfrm>
          <a:prstGeom prst="rect">
            <a:avLst/>
          </a:prstGeom>
          <a:solidFill>
            <a:srgbClr val="DAA947"/>
          </a:solidFill>
          <a:ln w="9525" cap="flat" cmpd="sng" algn="ctr">
            <a:solidFill>
              <a:srgbClr val="DAA947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AFED34-A556-7C9A-9FAB-6AFD370D459C}"/>
              </a:ext>
            </a:extLst>
          </p:cNvPr>
          <p:cNvSpPr txBox="1"/>
          <p:nvPr/>
        </p:nvSpPr>
        <p:spPr>
          <a:xfrm>
            <a:off x="822960" y="3465576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CE41F-69E9-6851-88D6-F47775A4FF0A}"/>
              </a:ext>
            </a:extLst>
          </p:cNvPr>
          <p:cNvSpPr txBox="1"/>
          <p:nvPr/>
        </p:nvSpPr>
        <p:spPr>
          <a:xfrm>
            <a:off x="822960" y="3858767"/>
            <a:ext cx="47823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Give two properties of a good algorithm.</a:t>
            </a:r>
          </a:p>
        </p:txBody>
      </p:sp>
      <p:sp>
        <p:nvSpPr>
          <p:cNvPr id="16" name="Rounded Rectangle 19">
            <a:extLst>
              <a:ext uri="{FF2B5EF4-FFF2-40B4-BE49-F238E27FC236}">
                <a16:creationId xmlns:a16="http://schemas.microsoft.com/office/drawing/2014/main" id="{3BA9D62E-DD02-F3AE-E79D-5CA45780E396}"/>
              </a:ext>
            </a:extLst>
          </p:cNvPr>
          <p:cNvSpPr/>
          <p:nvPr/>
        </p:nvSpPr>
        <p:spPr>
          <a:xfrm>
            <a:off x="6217920" y="3337560"/>
            <a:ext cx="5166360" cy="1508760"/>
          </a:xfrm>
          <a:prstGeom prst="roundRect">
            <a:avLst/>
          </a:prstGeom>
          <a:solidFill>
            <a:srgbClr val="F7F9F6"/>
          </a:solidFill>
          <a:ln w="9525" cap="flat" cmpd="sng" algn="ctr">
            <a:solidFill>
              <a:srgbClr val="DAE5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73D34-73D8-73F0-59A6-01AE65CA1EF4}"/>
              </a:ext>
            </a:extLst>
          </p:cNvPr>
          <p:cNvSpPr/>
          <p:nvPr/>
        </p:nvSpPr>
        <p:spPr>
          <a:xfrm>
            <a:off x="6217920" y="3337560"/>
            <a:ext cx="73152" cy="1508760"/>
          </a:xfrm>
          <a:prstGeom prst="rect">
            <a:avLst/>
          </a:prstGeom>
          <a:solidFill>
            <a:srgbClr val="9AD5BC"/>
          </a:solidFill>
          <a:ln w="9525" cap="flat" cmpd="sng" algn="ctr">
            <a:solidFill>
              <a:srgbClr val="9AD5BC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F540C-DB09-72CA-8562-E405BC6C4A07}"/>
              </a:ext>
            </a:extLst>
          </p:cNvPr>
          <p:cNvSpPr txBox="1"/>
          <p:nvPr/>
        </p:nvSpPr>
        <p:spPr>
          <a:xfrm>
            <a:off x="6446520" y="3465576"/>
            <a:ext cx="4800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 b="1">
                <a:solidFill>
                  <a:srgbClr val="182D3A"/>
                </a:solidFill>
                <a:latin typeface="Aptos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ABD6D-0B38-0A0D-9598-6DABCDD547BD}"/>
              </a:ext>
            </a:extLst>
          </p:cNvPr>
          <p:cNvSpPr txBox="1"/>
          <p:nvPr/>
        </p:nvSpPr>
        <p:spPr>
          <a:xfrm>
            <a:off x="6446520" y="3858767"/>
            <a:ext cx="4782312" cy="8869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defTabSz="457200"/>
            <a:r>
              <a:rPr sz="1500">
                <a:solidFill>
                  <a:srgbClr val="263238"/>
                </a:solidFill>
                <a:latin typeface="Aptos"/>
              </a:rPr>
              <a:t>What are the inputs for density = mass / volume?</a:t>
            </a:r>
          </a:p>
        </p:txBody>
      </p:sp>
    </p:spTree>
    <p:extLst>
      <p:ext uri="{BB962C8B-B14F-4D97-AF65-F5344CB8AC3E}">
        <p14:creationId xmlns:p14="http://schemas.microsoft.com/office/powerpoint/2010/main" val="20548486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(English / Français)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803904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/ Constant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/ Constante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/ Real / Boolean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Entier / Réel / Booléen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de trace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Flowchart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Organigramme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/ Software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Matériel / Logiciel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 reading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 1 — Algorithmics · Université Constantine 1 · Tronc Commun SM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1782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Algorithms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5052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Cormen, Leiserson, Rivest, Stein — MIT Press (course bibliography).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95060" y="1554480"/>
            <a:ext cx="54178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77940" y="169164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Programming: An Introduction to Computer Science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77940" y="2148840"/>
            <a:ext cx="5052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Zelle — Franklin, Beedle &amp; Associates (course bibliography).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417820" cy="1920240"/>
          </a:xfrm>
          <a:prstGeom prst="roundRect">
            <a:avLst>
              <a:gd name="adj" fmla="val 4762"/>
            </a:avLst>
          </a:prstGeom>
          <a:solidFill>
            <a:srgbClr val="EAF4F8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384048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Tutorial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97680"/>
            <a:ext cx="5052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docs.python.org — official, free and always up to date.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5060" y="3703320"/>
            <a:ext cx="54178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EA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377940" y="384048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Python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77940" y="4297680"/>
            <a:ext cx="50520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B. Downey — O'Reilly, free online edition.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3609</Words>
  <Application>Microsoft Office PowerPoint</Application>
  <PresentationFormat>Widescreen</PresentationFormat>
  <Paragraphs>658</Paragraphs>
  <Slides>43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Aptos</vt:lpstr>
      <vt:lpstr>Arial</vt:lpstr>
      <vt:lpstr>Calibri</vt:lpstr>
      <vt:lpstr>Cambria</vt:lpstr>
      <vt:lpstr>Cambria Math</vt:lpstr>
      <vt:lpstr>Courier New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FARIDA LARIT</cp:lastModifiedBy>
  <cp:revision>59</cp:revision>
  <dcterms:created xsi:type="dcterms:W3CDTF">2026-09-28T18:41:02Z</dcterms:created>
  <dcterms:modified xsi:type="dcterms:W3CDTF">2026-10-06T09:55:20Z</dcterms:modified>
</cp:coreProperties>
</file>