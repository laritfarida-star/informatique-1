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76" r:id="rId8"/>
    <p:sldId id="277" r:id="rId9"/>
    <p:sldId id="261" r:id="rId10"/>
    <p:sldId id="278" r:id="rId11"/>
    <p:sldId id="262" r:id="rId12"/>
    <p:sldId id="263" r:id="rId13"/>
    <p:sldId id="264" r:id="rId14"/>
    <p:sldId id="279" r:id="rId15"/>
    <p:sldId id="265" r:id="rId16"/>
    <p:sldId id="266" r:id="rId17"/>
    <p:sldId id="267" r:id="rId18"/>
    <p:sldId id="268" r:id="rId19"/>
    <p:sldId id="269" r:id="rId20"/>
    <p:sldId id="280" r:id="rId21"/>
    <p:sldId id="270" r:id="rId22"/>
    <p:sldId id="271" r:id="rId23"/>
    <p:sldId id="281" r:id="rId24"/>
    <p:sldId id="272" r:id="rId25"/>
    <p:sldId id="273" r:id="rId26"/>
    <p:sldId id="274" r:id="rId27"/>
    <p:sldId id="27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2ECBEF9-B1E9-0CE1-A775-A6D8869BC35C}">
          <p14:sldIdLst>
            <p14:sldId id="256"/>
            <p14:sldId id="257"/>
            <p14:sldId id="258"/>
          </p14:sldIdLst>
        </p14:section>
        <p14:section name="Python and its environment" id="{97D651B7-0C0F-5B02-9477-4DF4CAE16AB8}">
          <p14:sldIdLst>
            <p14:sldId id="259"/>
            <p14:sldId id="260"/>
            <p14:sldId id="276"/>
            <p14:sldId id="277"/>
            <p14:sldId id="261"/>
            <p14:sldId id="278"/>
            <p14:sldId id="262"/>
            <p14:sldId id="263"/>
          </p14:sldIdLst>
        </p14:section>
        <p14:section name="First instructions" id="{7EF70BF4-5FE5-0078-FADA-1E6E0557233C}">
          <p14:sldIdLst>
            <p14:sldId id="264"/>
            <p14:sldId id="279"/>
            <p14:sldId id="265"/>
            <p14:sldId id="266"/>
            <p14:sldId id="267"/>
            <p14:sldId id="268"/>
            <p14:sldId id="269"/>
          </p14:sldIdLst>
        </p14:section>
        <p14:section name="First complete program" id="{96AB2F82-57C7-E2E9-7BA9-00FB842ED210}">
          <p14:sldIdLst>
            <p14:sldId id="280"/>
            <p14:sldId id="270"/>
            <p14:sldId id="271"/>
            <p14:sldId id="281"/>
          </p14:sldIdLst>
        </p14:section>
        <p14:section name="Errors and wrap-up" id="{95019649-0939-1089-58A4-A6C66E64DF3E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8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is the first formal introduction to Python. By the end of the session everyone will have written and run their first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the progression seen in Cours 1. Today we focus on step 4: writing the Python program. Follow the density example through all six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objectives. Insist that the aim today is modest: understand what Python is and write the first simple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a programming language: a precise way of writing instructions for a computer. It was created by Guido van Rossum and first released in 1991.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lets us concentrate on the science rather than on complicated syntax. The libraries are mentioned only as a horizon: in this course we start with the core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computer does not understand Python directly. The Python interpreter reads the instructions and has the computer carry them out: it acts as a translator between you and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IDLE is installed with Python. It has two main windows: the Shell, where we type at the &gt;&gt;&gt; prompt, and the Editor, where we write and save programs. Demonstrate live if possible: File &gt; New File, then Run &gt; Run Module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language, two ways of working. Use the shell to test an idea quickly; use a script when the program has several instructions or must be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works as a calculator. Type each line in the shell. Point out that ** is the power and that Python respects the usual priority of operations. The last line is the kinetic energy E = 1/2 m v^2 for m = 2 kg and v = 3 m/s.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interactive mode Python shows results automatically. In a script, nothing is displayed unless we ask for it with print().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instruction into parts: the function name, the parentheses, and the argument, which is what we want to display. Python is case-sensitive: Print is not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problem, model, then Python. 54 / 20 = 2.7. The second version adds text and a unit to make the result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Quotes mean text: Python displays it exactly as written. No quotes means a calculation: Python computes it first. This distinction will matter a lot in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comment starts with the # symbol. Python ignores it completely. Comments are written for humans: you, your classmates and your teacher. Good comments explain what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script (F5). The names mass, volume and density are variables: names that store values. They are used here only briefly; variables will be studied formally in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reads the program from top to bottom, one instruction after another. Comments are skipped. Values are stored in memory under their names. print() finally shows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syntax error means Python cannot understand the instruction as written. It is not a failure. The message tells us where to look. Wording of the message can vary slightly between Python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frequent mistakes. Ask students to spot the difference between the wrong and the correct line. Advice: always read the last line of the error message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5 minutes. Expected program: a comment, d = 150, t = 12, v = d / t, and print("Speed =", v, "m/s"). Expected output: Speed = 12.5 m/s.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ideas, then open the next session: variables will explain what mass, volume and density really are, and data types will explain the difference between 2.7 and the text "2.7".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73152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Informatique 1 — L1 Sciences de la Matière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7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6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3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0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8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28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1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6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46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3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6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2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552"/>
            <a:ext cx="7863840" cy="1106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600" b="1" dirty="0"/>
              <a:t>Getting Started with Python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24466" y="215521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Informatique 1 — L1 Sciences de la Matière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Cours 2 — Session 1  ·  90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24466" y="3657600"/>
            <a:ext cx="4937760" cy="9144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64709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print("Hello, science!")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science!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A60D2-2305-87E3-4EC0-D0444B52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193" y="2456136"/>
            <a:ext cx="2203888" cy="220388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D16560-58D7-6965-D5FC-76D14254C6E8}"/>
              </a:ext>
            </a:extLst>
          </p:cNvPr>
          <p:cNvSpPr/>
          <p:nvPr/>
        </p:nvSpPr>
        <p:spPr>
          <a:xfrm>
            <a:off x="6800193" y="4706598"/>
            <a:ext cx="2081574" cy="36405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solidFill>
              <a:srgbClr val="2F7D5B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1E2522"/>
                </a:solidFill>
                <a:effectLst/>
                <a:uLnTx/>
                <a:uFillTx/>
              </a:rPr>
              <a:t>DR. FARIDA LARIT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1E2522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a problem to a Python program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Scientific problem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Find the density of a sample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746504" y="1783080"/>
            <a:ext cx="16459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9202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Mathematical model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ρ = m / V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18104" y="1783080"/>
            <a:ext cx="16459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Algorithm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Store m and V, compute m / V, display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89704" y="1783080"/>
            <a:ext cx="16459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634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program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print(54/20)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61304" y="1783080"/>
            <a:ext cx="16459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350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807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Computer execution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Python runs the instructions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232904" y="1783080"/>
            <a:ext cx="164592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06640" y="132588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Scientific result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2.7 g/cm³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374904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749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Today's focus: writing and running the Python program (step 4)</a:t>
            </a:r>
            <a:endParaRPr lang="en-US" sz="2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Learning 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2801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what Python is and why scientists use it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Describe the role of the Python interpreter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8346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Use IDLE in interactive mode and in script mode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118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Write first instructions: calculations, print() and comments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/>
              <a:t>What is Python?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High-level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Close to human language, far from machine code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Interpreted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8745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An interpreter executes your instructions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Readable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74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Clear, simple syntax — ideal for beginners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Free and open source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474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Available on Windows, macOS and Linux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Created by Guido van Rossum — first released in 1991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Python in science?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89888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Simple syntax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Focus on the science, not on the grammar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Scientific libraries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9979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NumPy, SciPy, Matplotlib, pandas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 and graphs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7569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Process measurements and plot results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584448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Widely used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52729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Research, industry and education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In this course we start with the core language — libraries come later.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74852" y="877268"/>
            <a:ext cx="3646253" cy="3935895"/>
            <a:chOff x="0" y="0"/>
            <a:chExt cx="811823" cy="911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1823" cy="911972"/>
            </a:xfrm>
            <a:custGeom>
              <a:avLst/>
              <a:gdLst/>
              <a:ahLst/>
              <a:cxnLst/>
              <a:rect l="l" t="t" r="r" b="b"/>
              <a:pathLst>
                <a:path w="811823" h="911972">
                  <a:moveTo>
                    <a:pt x="36936" y="0"/>
                  </a:moveTo>
                  <a:lnTo>
                    <a:pt x="774887" y="0"/>
                  </a:lnTo>
                  <a:cubicBezTo>
                    <a:pt x="784683" y="0"/>
                    <a:pt x="794078" y="3891"/>
                    <a:pt x="801005" y="10818"/>
                  </a:cubicBezTo>
                  <a:cubicBezTo>
                    <a:pt x="807931" y="17745"/>
                    <a:pt x="811823" y="27140"/>
                    <a:pt x="811823" y="36936"/>
                  </a:cubicBezTo>
                  <a:lnTo>
                    <a:pt x="811823" y="875035"/>
                  </a:lnTo>
                  <a:cubicBezTo>
                    <a:pt x="811823" y="884832"/>
                    <a:pt x="807931" y="894226"/>
                    <a:pt x="801005" y="901153"/>
                  </a:cubicBezTo>
                  <a:cubicBezTo>
                    <a:pt x="794078" y="908080"/>
                    <a:pt x="784683" y="911972"/>
                    <a:pt x="774887" y="911972"/>
                  </a:cubicBezTo>
                  <a:lnTo>
                    <a:pt x="36936" y="911972"/>
                  </a:lnTo>
                  <a:cubicBezTo>
                    <a:pt x="27140" y="911972"/>
                    <a:pt x="17745" y="908080"/>
                    <a:pt x="10818" y="901153"/>
                  </a:cubicBezTo>
                  <a:cubicBezTo>
                    <a:pt x="3891" y="894226"/>
                    <a:pt x="0" y="884832"/>
                    <a:pt x="0" y="875035"/>
                  </a:cubicBezTo>
                  <a:lnTo>
                    <a:pt x="0" y="36936"/>
                  </a:lnTo>
                  <a:cubicBezTo>
                    <a:pt x="0" y="27140"/>
                    <a:pt x="3891" y="17745"/>
                    <a:pt x="10818" y="10818"/>
                  </a:cubicBezTo>
                  <a:cubicBezTo>
                    <a:pt x="17745" y="3891"/>
                    <a:pt x="27140" y="0"/>
                    <a:pt x="36936" y="0"/>
                  </a:cubicBezTo>
                  <a:close/>
                </a:path>
              </a:pathLst>
            </a:custGeom>
            <a:blipFill>
              <a:blip r:embed="rId2"/>
              <a:stretch>
                <a:fillRect l="-340" r="-34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013122" y="799771"/>
            <a:ext cx="2081857" cy="1362075"/>
          </a:xfrm>
          <a:prstGeom prst="round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algn="ctr" defTabSz="457200"/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Python for Scientific Computing</a:t>
            </a:r>
          </a:p>
          <a:p>
            <a:pPr defTabSz="457200"/>
            <a:endParaRPr lang="en-US" sz="2000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  <a:cs typeface="Hammersmith One"/>
              <a:sym typeface="Hammersmith On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2062" y="1113562"/>
            <a:ext cx="1384490" cy="3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3023"/>
              </a:lnSpc>
            </a:pPr>
            <a:r>
              <a:rPr lang="en-US" sz="1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89%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2062" y="2163263"/>
            <a:ext cx="1468573" cy="3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3023"/>
              </a:lnSpc>
            </a:pPr>
            <a:r>
              <a:rPr lang="en-US" sz="1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75%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60669" y="2183147"/>
            <a:ext cx="2586765" cy="2630016"/>
          </a:xfrm>
          <a:prstGeom prst="round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695"/>
              </a:lnSpc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  <a:p>
            <a:pPr defTabSz="457200">
              <a:lnSpc>
                <a:spcPts val="1695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Python enables scientists to :</a:t>
            </a:r>
          </a:p>
          <a:p>
            <a:pPr marL="285750" indent="-285750" defTabSz="457200">
              <a:lnSpc>
                <a:spcPts val="1695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Automate repetitive calculations</a:t>
            </a:r>
          </a:p>
          <a:p>
            <a:pPr marL="285750" indent="-285750" defTabSz="457200">
              <a:lnSpc>
                <a:spcPts val="1695"/>
              </a:lnSpc>
              <a:buFontTx/>
              <a:buChar char="-"/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  <a:p>
            <a:pPr defTabSz="457200">
              <a:lnSpc>
                <a:spcPts val="1695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-</a:t>
            </a:r>
            <a:r>
              <a:rPr lang="en-US" sz="16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Ensure reproducibility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, </a:t>
            </a:r>
          </a:p>
          <a:p>
            <a:pPr defTabSz="457200">
              <a:lnSpc>
                <a:spcPts val="1695"/>
              </a:lnSpc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  <a:p>
            <a:pPr defTabSz="457200">
              <a:lnSpc>
                <a:spcPts val="1695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-</a:t>
            </a:r>
            <a:r>
              <a:rPr lang="en-US" sz="1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Analyze large datasets with precision</a:t>
            </a: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.</a:t>
            </a:r>
          </a:p>
          <a:p>
            <a:pPr defTabSz="457200">
              <a:lnSpc>
                <a:spcPts val="1695"/>
              </a:lnSpc>
            </a:pP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2062" y="1544432"/>
            <a:ext cx="228482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679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OF DATA SCIENTISTS USE PYTHON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2062" y="2594132"/>
            <a:ext cx="228482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679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FASTER THAN MANUAL CALCULATIONS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1026" y="4872848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2062" y="3237968"/>
            <a:ext cx="1384490" cy="3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3023"/>
              </a:lnSpc>
            </a:pPr>
            <a:r>
              <a:rPr lang="en-US" sz="1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100%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062" y="3668837"/>
            <a:ext cx="228482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679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REPRODUCIBLE RESULTS EVERY TIME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8BBA535-4D97-2169-E393-39AA87C2C4E9}"/>
              </a:ext>
            </a:extLst>
          </p:cNvPr>
          <p:cNvSpPr txBox="1">
            <a:spLocks/>
          </p:cNvSpPr>
          <p:nvPr/>
        </p:nvSpPr>
        <p:spPr>
          <a:xfrm>
            <a:off x="30691" y="4695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2355B"/>
                </a:solidFill>
                <a:effectLst/>
                <a:uLnTx/>
                <a:uFillTx/>
                <a:latin typeface="Cambria"/>
                <a:ea typeface="+mj-ea"/>
                <a:cs typeface="+mj-cs"/>
              </a:rPr>
              <a:t>Why Python in science?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0162" y="2896582"/>
            <a:ext cx="1827213" cy="1189271"/>
            <a:chOff x="0" y="0"/>
            <a:chExt cx="566166" cy="368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6166" cy="368498"/>
            </a:xfrm>
            <a:custGeom>
              <a:avLst/>
              <a:gdLst/>
              <a:ahLst/>
              <a:cxnLst/>
              <a:rect l="l" t="t" r="r" b="b"/>
              <a:pathLst>
                <a:path w="566166" h="368498">
                  <a:moveTo>
                    <a:pt x="42370" y="0"/>
                  </a:moveTo>
                  <a:lnTo>
                    <a:pt x="523796" y="0"/>
                  </a:lnTo>
                  <a:cubicBezTo>
                    <a:pt x="535033" y="0"/>
                    <a:pt x="545810" y="4464"/>
                    <a:pt x="553756" y="12410"/>
                  </a:cubicBezTo>
                  <a:cubicBezTo>
                    <a:pt x="561702" y="20356"/>
                    <a:pt x="566166" y="31133"/>
                    <a:pt x="566166" y="42370"/>
                  </a:cubicBezTo>
                  <a:lnTo>
                    <a:pt x="566166" y="326128"/>
                  </a:lnTo>
                  <a:cubicBezTo>
                    <a:pt x="566166" y="349529"/>
                    <a:pt x="547196" y="368498"/>
                    <a:pt x="523796" y="368498"/>
                  </a:cubicBezTo>
                  <a:lnTo>
                    <a:pt x="42370" y="368498"/>
                  </a:lnTo>
                  <a:cubicBezTo>
                    <a:pt x="18970" y="368498"/>
                    <a:pt x="0" y="349529"/>
                    <a:pt x="0" y="326128"/>
                  </a:cubicBezTo>
                  <a:lnTo>
                    <a:pt x="0" y="42370"/>
                  </a:lnTo>
                  <a:cubicBezTo>
                    <a:pt x="0" y="18970"/>
                    <a:pt x="18970" y="0"/>
                    <a:pt x="42370" y="0"/>
                  </a:cubicBezTo>
                  <a:close/>
                </a:path>
              </a:pathLst>
            </a:custGeom>
            <a:blipFill>
              <a:blip r:embed="rId2"/>
              <a:stretch>
                <a:fillRect l="-66" r="-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29921" y="2913836"/>
            <a:ext cx="1827213" cy="1189271"/>
            <a:chOff x="0" y="0"/>
            <a:chExt cx="566166" cy="3684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6166" cy="368498"/>
            </a:xfrm>
            <a:custGeom>
              <a:avLst/>
              <a:gdLst/>
              <a:ahLst/>
              <a:cxnLst/>
              <a:rect l="l" t="t" r="r" b="b"/>
              <a:pathLst>
                <a:path w="566166" h="368498">
                  <a:moveTo>
                    <a:pt x="42370" y="0"/>
                  </a:moveTo>
                  <a:lnTo>
                    <a:pt x="523796" y="0"/>
                  </a:lnTo>
                  <a:cubicBezTo>
                    <a:pt x="535033" y="0"/>
                    <a:pt x="545810" y="4464"/>
                    <a:pt x="553756" y="12410"/>
                  </a:cubicBezTo>
                  <a:cubicBezTo>
                    <a:pt x="561702" y="20356"/>
                    <a:pt x="566166" y="31133"/>
                    <a:pt x="566166" y="42370"/>
                  </a:cubicBezTo>
                  <a:lnTo>
                    <a:pt x="566166" y="326128"/>
                  </a:lnTo>
                  <a:cubicBezTo>
                    <a:pt x="566166" y="349529"/>
                    <a:pt x="547196" y="368498"/>
                    <a:pt x="523796" y="368498"/>
                  </a:cubicBezTo>
                  <a:lnTo>
                    <a:pt x="42370" y="368498"/>
                  </a:lnTo>
                  <a:cubicBezTo>
                    <a:pt x="18970" y="368498"/>
                    <a:pt x="0" y="349529"/>
                    <a:pt x="0" y="326128"/>
                  </a:cubicBezTo>
                  <a:lnTo>
                    <a:pt x="0" y="42370"/>
                  </a:lnTo>
                  <a:cubicBezTo>
                    <a:pt x="0" y="18970"/>
                    <a:pt x="18970" y="0"/>
                    <a:pt x="42370" y="0"/>
                  </a:cubicBezTo>
                  <a:close/>
                </a:path>
              </a:pathLst>
            </a:custGeom>
            <a:blipFill>
              <a:blip r:embed="rId3"/>
              <a:stretch>
                <a:fillRect l="-66" r="-6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909573" y="142353"/>
            <a:ext cx="5664442" cy="523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3957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Why Python in Science?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890" y="1558922"/>
            <a:ext cx="8404965" cy="1195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Python is the preferred language for scientists because it handles calculations naturally, processes experimental data efficiently, and presents results clearly. Let's see three concrete examples.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699" y="4384777"/>
            <a:ext cx="1671733" cy="3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Calculating Density</a:t>
            </a:r>
          </a:p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density = mass / volume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8155" y="4378963"/>
            <a:ext cx="1300933" cy="3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Presenting Results</a:t>
            </a:r>
          </a:p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print("Result:", value)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8187" y="4378963"/>
            <a:ext cx="1827213" cy="3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Processing Measurements</a:t>
            </a:r>
          </a:p>
          <a:p>
            <a:pPr algn="ctr" defTabSz="457200">
              <a:lnSpc>
                <a:spcPts val="1318"/>
              </a:lnSpc>
            </a:pP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mean = sum(data) / </a:t>
            </a:r>
            <a:r>
              <a:rPr lang="en-US" sz="10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len</a:t>
            </a:r>
            <a:r>
              <a:rPr lang="en-US" sz="1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(data)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9082" y="1005422"/>
            <a:ext cx="6860031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643"/>
              </a:lnSpc>
            </a:pP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CONNECTING PYTHON TO CHEMISTRY, PHYSICS, AND MEASUREMENTS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15014" y="2835512"/>
            <a:ext cx="1827213" cy="1189271"/>
            <a:chOff x="0" y="0"/>
            <a:chExt cx="566166" cy="3684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6166" cy="368498"/>
            </a:xfrm>
            <a:custGeom>
              <a:avLst/>
              <a:gdLst/>
              <a:ahLst/>
              <a:cxnLst/>
              <a:rect l="l" t="t" r="r" b="b"/>
              <a:pathLst>
                <a:path w="566166" h="368498">
                  <a:moveTo>
                    <a:pt x="42370" y="0"/>
                  </a:moveTo>
                  <a:lnTo>
                    <a:pt x="523796" y="0"/>
                  </a:lnTo>
                  <a:cubicBezTo>
                    <a:pt x="535033" y="0"/>
                    <a:pt x="545810" y="4464"/>
                    <a:pt x="553756" y="12410"/>
                  </a:cubicBezTo>
                  <a:cubicBezTo>
                    <a:pt x="561702" y="20356"/>
                    <a:pt x="566166" y="31133"/>
                    <a:pt x="566166" y="42370"/>
                  </a:cubicBezTo>
                  <a:lnTo>
                    <a:pt x="566166" y="326128"/>
                  </a:lnTo>
                  <a:cubicBezTo>
                    <a:pt x="566166" y="349529"/>
                    <a:pt x="547196" y="368498"/>
                    <a:pt x="523796" y="368498"/>
                  </a:cubicBezTo>
                  <a:lnTo>
                    <a:pt x="42370" y="368498"/>
                  </a:lnTo>
                  <a:cubicBezTo>
                    <a:pt x="18970" y="368498"/>
                    <a:pt x="0" y="349529"/>
                    <a:pt x="0" y="326128"/>
                  </a:cubicBezTo>
                  <a:lnTo>
                    <a:pt x="0" y="42370"/>
                  </a:lnTo>
                  <a:cubicBezTo>
                    <a:pt x="0" y="18970"/>
                    <a:pt x="18970" y="0"/>
                    <a:pt x="42370" y="0"/>
                  </a:cubicBezTo>
                  <a:close/>
                </a:path>
              </a:pathLst>
            </a:custGeom>
            <a:blipFill>
              <a:blip r:embed="rId4"/>
              <a:stretch>
                <a:fillRect l="-66" r="-66"/>
              </a:stretch>
            </a:blipFill>
          </p:spPr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AF8DE987-94F7-70D8-82A1-31C401BB7979}"/>
              </a:ext>
            </a:extLst>
          </p:cNvPr>
          <p:cNvSpPr txBox="1"/>
          <p:nvPr/>
        </p:nvSpPr>
        <p:spPr>
          <a:xfrm>
            <a:off x="261026" y="4872848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student to computer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You write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Python code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359152" y="1828800"/>
            <a:ext cx="24688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633472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79192" y="12801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Python interpreter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reads your instructions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43984" y="1828800"/>
            <a:ext cx="24688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718304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64024" y="12801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Computer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executes them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28816" y="1828800"/>
            <a:ext cx="24688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03136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48856" y="12801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shown on screen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interpreter is a translator between you and the computer.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3291840" cy="822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200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print(54 / 20)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023360" y="3611880"/>
            <a:ext cx="91440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12064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120640" y="3200400"/>
            <a:ext cx="34747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4924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Example: a one-line Python program and its result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640" y="504719"/>
            <a:ext cx="8046720" cy="2408877"/>
          </a:xfrm>
          <a:custGeom>
            <a:avLst/>
            <a:gdLst/>
            <a:ahLst/>
            <a:cxnLst/>
            <a:rect l="l" t="t" r="r" b="b"/>
            <a:pathLst>
              <a:path w="18818435" h="5561422">
                <a:moveTo>
                  <a:pt x="0" y="0"/>
                </a:moveTo>
                <a:lnTo>
                  <a:pt x="18818436" y="0"/>
                </a:lnTo>
                <a:lnTo>
                  <a:pt x="18818436" y="5561422"/>
                </a:lnTo>
                <a:lnTo>
                  <a:pt x="0" y="556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1" b="-12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2486" y="3335266"/>
            <a:ext cx="3193412" cy="88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3398"/>
              </a:lnSpc>
            </a:pPr>
            <a:r>
              <a:rPr lang="en-US" sz="3089" dirty="0">
                <a:solidFill>
                  <a:srgbClr val="000099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IDLE: Your Python</a:t>
            </a:r>
          </a:p>
          <a:p>
            <a:pPr defTabSz="457200">
              <a:lnSpc>
                <a:spcPts val="3398"/>
              </a:lnSpc>
            </a:pPr>
            <a:r>
              <a:rPr lang="en-US" sz="3089" dirty="0">
                <a:solidFill>
                  <a:srgbClr val="000099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Workspace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11158" y="3509756"/>
            <a:ext cx="5515096" cy="126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422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IDLE comes with Python and provides two modes:</a:t>
            </a:r>
          </a:p>
          <a:p>
            <a:pPr defTabSz="457200">
              <a:lnSpc>
                <a:spcPts val="1422"/>
              </a:lnSpc>
            </a:pPr>
            <a:endParaRPr lang="en-US" sz="16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  <a:p>
            <a:pPr defTabSz="457200">
              <a:lnSpc>
                <a:spcPts val="1422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Interactive mode: </a:t>
            </a: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Type code, get instant results. Perfect for quick experiments and testing calculations.</a:t>
            </a:r>
          </a:p>
          <a:p>
            <a:pPr defTabSz="457200">
              <a:lnSpc>
                <a:spcPts val="1422"/>
              </a:lnSpc>
            </a:pPr>
            <a:endParaRPr lang="en-US" sz="16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lear Sans"/>
              <a:sym typeface="Clear Sans"/>
            </a:endParaRPr>
          </a:p>
          <a:p>
            <a:pPr defTabSz="457200">
              <a:lnSpc>
                <a:spcPts val="1422"/>
              </a:lnSpc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• </a:t>
            </a: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Script mode: </a:t>
            </a: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Write complete programs, save as .</a:t>
            </a:r>
            <a:r>
              <a:rPr lang="en-US" sz="16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py</a:t>
            </a: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 files, and run them repeatedly.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0469F09F-728A-086F-C594-2E8613D30D4D}"/>
              </a:ext>
            </a:extLst>
          </p:cNvPr>
          <p:cNvSpPr txBox="1">
            <a:spLocks/>
          </p:cNvSpPr>
          <p:nvPr/>
        </p:nvSpPr>
        <p:spPr>
          <a:xfrm>
            <a:off x="-132609" y="-91441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2355B"/>
                </a:solidFill>
                <a:effectLst/>
                <a:uLnTx/>
                <a:uFillTx/>
                <a:latin typeface="Cambria"/>
                <a:ea typeface="+mj-ea"/>
                <a:cs typeface="+mj-cs"/>
              </a:rPr>
              <a:t>Introduction to IDLE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28D227F5-C223-2A77-E1DB-A194721E0579}"/>
              </a:ext>
            </a:extLst>
          </p:cNvPr>
          <p:cNvSpPr txBox="1"/>
          <p:nvPr/>
        </p:nvSpPr>
        <p:spPr>
          <a:xfrm>
            <a:off x="261026" y="4872848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82880" y="42013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 to IDLE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IDLE Shell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print("Hello")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21031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script.py — IDLE Editor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737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first script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Python!")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Shell — immediate answers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Type after the &gt;&gt;&gt; prompt, then press Enter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Editor — write a program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Save as a .py file, then Run → Run Module (F5)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Interactive mode </a:t>
            </a: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</a:rPr>
              <a:t>vs</a:t>
            </a:r>
            <a:r>
              <a:rPr lang="en-US" sz="3400" b="1" dirty="0">
                <a:solidFill>
                  <a:schemeClr val="tx2"/>
                </a:solidFill>
              </a:rPr>
              <a:t> script mode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384048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280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Interactive mode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 one instruction at the &gt;&gt;&gt; prompt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Result appears immediately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Ideal to test and explore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Nothing is saved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280160"/>
            <a:ext cx="384048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280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Script mode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21031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Write several instructions in a file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Run the whole program (F5)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Saved as a .py file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Can be re-run and shared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Python language — two ways of working.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-148280" y="182880"/>
            <a:ext cx="600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First Python calculations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023360" cy="3108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6 * 7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15 / 4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**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0.5 * 2 * 3 ** 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846320" y="1280160"/>
            <a:ext cx="822960" cy="420624"/>
          </a:xfrm>
          <a:prstGeom prst="roundRect">
            <a:avLst>
              <a:gd name="adj" fmla="val 173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2801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280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addition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846320" y="1810512"/>
            <a:ext cx="822960" cy="420624"/>
          </a:xfrm>
          <a:prstGeom prst="roundRect">
            <a:avLst>
              <a:gd name="adj" fmla="val 173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81051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8105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subtraction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46320" y="2340864"/>
            <a:ext cx="822960" cy="420624"/>
          </a:xfrm>
          <a:prstGeom prst="roundRect">
            <a:avLst>
              <a:gd name="adj" fmla="val 173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3408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340864"/>
            <a:ext cx="153718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multiplication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846320" y="2871216"/>
            <a:ext cx="822960" cy="420624"/>
          </a:xfrm>
          <a:prstGeom prst="roundRect">
            <a:avLst>
              <a:gd name="adj" fmla="val 173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28712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division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846320" y="3401568"/>
            <a:ext cx="822960" cy="420624"/>
          </a:xfrm>
          <a:prstGeom prst="roundRect">
            <a:avLst>
              <a:gd name="adj" fmla="val 173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40156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401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power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Last line: E = ½ m v² with m = 2 kg and v = 3 m/s gives 9.0 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25241" y="1633684"/>
            <a:ext cx="4475003" cy="2881404"/>
            <a:chOff x="0" y="0"/>
            <a:chExt cx="1168695" cy="7144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8695" cy="714405"/>
            </a:xfrm>
            <a:custGeom>
              <a:avLst/>
              <a:gdLst/>
              <a:ahLst/>
              <a:cxnLst/>
              <a:rect l="l" t="t" r="r" b="b"/>
              <a:pathLst>
                <a:path w="1168695" h="714405">
                  <a:moveTo>
                    <a:pt x="32841" y="0"/>
                  </a:moveTo>
                  <a:lnTo>
                    <a:pt x="1135854" y="0"/>
                  </a:lnTo>
                  <a:cubicBezTo>
                    <a:pt x="1144564" y="0"/>
                    <a:pt x="1152917" y="3460"/>
                    <a:pt x="1159076" y="9619"/>
                  </a:cubicBezTo>
                  <a:cubicBezTo>
                    <a:pt x="1165235" y="15778"/>
                    <a:pt x="1168695" y="24131"/>
                    <a:pt x="1168695" y="32841"/>
                  </a:cubicBezTo>
                  <a:lnTo>
                    <a:pt x="1168695" y="681563"/>
                  </a:lnTo>
                  <a:cubicBezTo>
                    <a:pt x="1168695" y="690273"/>
                    <a:pt x="1165235" y="698627"/>
                    <a:pt x="1159076" y="704786"/>
                  </a:cubicBezTo>
                  <a:cubicBezTo>
                    <a:pt x="1152917" y="710944"/>
                    <a:pt x="1144564" y="714405"/>
                    <a:pt x="1135854" y="714405"/>
                  </a:cubicBezTo>
                  <a:lnTo>
                    <a:pt x="32841" y="714405"/>
                  </a:lnTo>
                  <a:cubicBezTo>
                    <a:pt x="24131" y="714405"/>
                    <a:pt x="15778" y="710944"/>
                    <a:pt x="9619" y="704786"/>
                  </a:cubicBezTo>
                  <a:cubicBezTo>
                    <a:pt x="3460" y="698627"/>
                    <a:pt x="0" y="690273"/>
                    <a:pt x="0" y="681563"/>
                  </a:cubicBezTo>
                  <a:lnTo>
                    <a:pt x="0" y="32841"/>
                  </a:lnTo>
                  <a:cubicBezTo>
                    <a:pt x="0" y="24131"/>
                    <a:pt x="3460" y="15778"/>
                    <a:pt x="9619" y="9619"/>
                  </a:cubicBezTo>
                  <a:cubicBezTo>
                    <a:pt x="15778" y="3460"/>
                    <a:pt x="24131" y="0"/>
                    <a:pt x="32841" y="0"/>
                  </a:cubicBezTo>
                  <a:close/>
                </a:path>
              </a:pathLst>
            </a:custGeom>
            <a:blipFill>
              <a:blip r:embed="rId2"/>
              <a:stretch>
                <a:fillRect t="-815" b="-81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463" y="1204019"/>
            <a:ext cx="331230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2518"/>
              </a:lnSpc>
            </a:pPr>
            <a:r>
              <a:rPr lang="en-US" sz="2099" b="1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Practice Basic Arithmetic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9942" y="1523825"/>
            <a:ext cx="2524181" cy="124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840"/>
              </a:lnSpc>
            </a:pPr>
            <a:r>
              <a:rPr lang="en-US" sz="1400" b="1" dirty="0">
                <a:solidFill>
                  <a:srgbClr val="000000"/>
                </a:solidFill>
                <a:ea typeface="Cambria" panose="02040503050406030204" pitchFamily="18" charset="0"/>
                <a:cs typeface="Hammersmith One"/>
                <a:sym typeface="Hammersmith One"/>
              </a:rPr>
              <a:t>Addition: 2 + 3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9942" y="2532971"/>
            <a:ext cx="2524181" cy="124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840"/>
              </a:lnSpc>
            </a:pPr>
            <a:r>
              <a:rPr lang="en-US" sz="1400" b="1" dirty="0">
                <a:solidFill>
                  <a:srgbClr val="000000"/>
                </a:solidFill>
                <a:ea typeface="Cambria" panose="02040503050406030204" pitchFamily="18" charset="0"/>
                <a:cs typeface="Hammersmith One"/>
                <a:sym typeface="Hammersmith One"/>
              </a:rPr>
              <a:t>Division: 10 /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9943" y="1743626"/>
            <a:ext cx="3218816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050"/>
              </a:lnSpc>
            </a:pPr>
            <a:r>
              <a:rPr lang="en-US" sz="1400" dirty="0">
                <a:solidFill>
                  <a:srgbClr val="5E5E5E"/>
                </a:solidFill>
                <a:ea typeface="Cambria" panose="02040503050406030204" pitchFamily="18" charset="0"/>
                <a:cs typeface="Clear Sans"/>
                <a:sym typeface="Clear Sans"/>
              </a:rPr>
              <a:t>Try typing 2 + 3 in IDLE and press Enter. Python immediately returns 5. The + operator adds two numbers, just like your calculator.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9943" y="2752772"/>
            <a:ext cx="3218816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050"/>
              </a:lnSpc>
            </a:pPr>
            <a:r>
              <a:rPr lang="en-US" sz="1400">
                <a:solidFill>
                  <a:srgbClr val="5E5E5E"/>
                </a:solidFill>
                <a:ea typeface="Cambria" panose="02040503050406030204" pitchFamily="18" charset="0"/>
                <a:cs typeface="Clear Sans"/>
                <a:sym typeface="Clear Sans"/>
              </a:rPr>
              <a:t>Enter 10 / 4 to get 2.5. Python 3 always returns a decimal (float) for division. This is useful for scientific calculations like concentration = moles / volume.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9943" y="3852681"/>
            <a:ext cx="2524180" cy="124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840"/>
              </a:lnSpc>
            </a:pPr>
            <a:r>
              <a:rPr lang="en-US" sz="1400" b="1">
                <a:solidFill>
                  <a:srgbClr val="000000"/>
                </a:solidFill>
                <a:ea typeface="Cambria" panose="02040503050406030204" pitchFamily="18" charset="0"/>
                <a:cs typeface="Hammersmith One"/>
                <a:sym typeface="Hammersmith One"/>
              </a:rPr>
              <a:t>Exponentiation: 5 **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9942" y="4072482"/>
            <a:ext cx="3218816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050"/>
              </a:lnSpc>
            </a:pPr>
            <a:r>
              <a:rPr lang="en-US" sz="1400" dirty="0">
                <a:solidFill>
                  <a:srgbClr val="5E5E5E"/>
                </a:solidFill>
                <a:ea typeface="Cambria" panose="02040503050406030204" pitchFamily="18" charset="0"/>
                <a:cs typeface="Clear Sans"/>
                <a:sym typeface="Clear Sans"/>
              </a:rPr>
              <a:t>Type 5 ** 2 to calculate 5². Python uses ** for powers, not ^. This is essential for physics formulas like E = mc² or chemistry's rate laws.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42FC6681-84C0-CD07-477C-F782661E07F8}"/>
              </a:ext>
            </a:extLst>
          </p:cNvPr>
          <p:cNvSpPr txBox="1">
            <a:spLocks/>
          </p:cNvSpPr>
          <p:nvPr/>
        </p:nvSpPr>
        <p:spPr>
          <a:xfrm>
            <a:off x="-148280" y="182880"/>
            <a:ext cx="600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2355B"/>
                </a:solidFill>
                <a:effectLst/>
                <a:uLnTx/>
                <a:uFillTx/>
                <a:latin typeface="Cambria"/>
                <a:ea typeface="+mj-ea"/>
                <a:cs typeface="+mj-cs"/>
              </a:rPr>
              <a:t>First Python calculations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B6BFDA9C-07F3-1847-BADD-938B06E4A78F}"/>
              </a:ext>
            </a:extLst>
          </p:cNvPr>
          <p:cNvSpPr txBox="1"/>
          <p:nvPr/>
        </p:nvSpPr>
        <p:spPr>
          <a:xfrm>
            <a:off x="261026" y="4872848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print() function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120640" cy="1280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Python!")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+ 3)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print("Mass of the sample:", 54, "g")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51206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Python!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of the sample: 54 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Remember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8745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 a script, Python displays nothing unless you call print().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Understanding print()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344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233172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945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function name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330952" y="2331720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5112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argument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766560" y="2331720"/>
            <a:ext cx="0" cy="27432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( )  parentheses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Lowercase only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86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is case-sensitive: print works, Print does not.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1840" y="329184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044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Text between quotes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3886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print("Hello") shows the text Hello.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35040" y="329184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Several items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886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with commas: print("Mass:", 25) shows Mass: 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Scientific example: calculating density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108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sample has mass 54 g and volume 20 cm³. What is its density?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108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ρ = m / V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3931920" y="1280160"/>
            <a:ext cx="4663440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0520" y="1280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print(54 / 20)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print("Density =", 54 / 20, "g/cm3")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31920" y="2926080"/>
            <a:ext cx="466344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2.7 g/cm3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Python calculates, then print() displays.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Text versus calculation in Python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TEXT — with quotes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840480" cy="731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print("2 + 3")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468880" y="2743200"/>
            <a:ext cx="0" cy="3200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384048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08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Displayed exactly as written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38404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1280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CALCULATION — no quotes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54880" y="1965960"/>
            <a:ext cx="3840480" cy="731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1965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+ 3)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675120" y="2743200"/>
            <a:ext cx="0" cy="3200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75488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3108960"/>
            <a:ext cx="384048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108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Python computes, then displays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print("54 / 20") shows the formula — print(54 / 20) shows 2.7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Comments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0" cy="1463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Density of a sample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print(54 / 20)  </a:t>
            </a: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mass / volume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45720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Start with #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 after # on the line is a comment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Ignored by Python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comments never change the result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Written for humans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what the code does and why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6022" y="2050013"/>
            <a:ext cx="3771781" cy="2305629"/>
            <a:chOff x="0" y="0"/>
            <a:chExt cx="1168695" cy="7144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8695" cy="714405"/>
            </a:xfrm>
            <a:custGeom>
              <a:avLst/>
              <a:gdLst/>
              <a:ahLst/>
              <a:cxnLst/>
              <a:rect l="l" t="t" r="r" b="b"/>
              <a:pathLst>
                <a:path w="1168695" h="714405">
                  <a:moveTo>
                    <a:pt x="32841" y="0"/>
                  </a:moveTo>
                  <a:lnTo>
                    <a:pt x="1135854" y="0"/>
                  </a:lnTo>
                  <a:cubicBezTo>
                    <a:pt x="1144564" y="0"/>
                    <a:pt x="1152917" y="3460"/>
                    <a:pt x="1159076" y="9619"/>
                  </a:cubicBezTo>
                  <a:cubicBezTo>
                    <a:pt x="1165235" y="15778"/>
                    <a:pt x="1168695" y="24131"/>
                    <a:pt x="1168695" y="32841"/>
                  </a:cubicBezTo>
                  <a:lnTo>
                    <a:pt x="1168695" y="681563"/>
                  </a:lnTo>
                  <a:cubicBezTo>
                    <a:pt x="1168695" y="690273"/>
                    <a:pt x="1165235" y="698627"/>
                    <a:pt x="1159076" y="704786"/>
                  </a:cubicBezTo>
                  <a:cubicBezTo>
                    <a:pt x="1152917" y="710944"/>
                    <a:pt x="1144564" y="714405"/>
                    <a:pt x="1135854" y="714405"/>
                  </a:cubicBezTo>
                  <a:lnTo>
                    <a:pt x="32841" y="714405"/>
                  </a:lnTo>
                  <a:cubicBezTo>
                    <a:pt x="24131" y="714405"/>
                    <a:pt x="15778" y="710944"/>
                    <a:pt x="9619" y="704786"/>
                  </a:cubicBezTo>
                  <a:cubicBezTo>
                    <a:pt x="3460" y="698627"/>
                    <a:pt x="0" y="690273"/>
                    <a:pt x="0" y="681563"/>
                  </a:cubicBezTo>
                  <a:lnTo>
                    <a:pt x="0" y="32841"/>
                  </a:lnTo>
                  <a:cubicBezTo>
                    <a:pt x="0" y="24131"/>
                    <a:pt x="3460" y="15778"/>
                    <a:pt x="9619" y="9619"/>
                  </a:cubicBezTo>
                  <a:cubicBezTo>
                    <a:pt x="15778" y="3460"/>
                    <a:pt x="24131" y="0"/>
                    <a:pt x="32841" y="0"/>
                  </a:cubicBezTo>
                  <a:close/>
                </a:path>
              </a:pathLst>
            </a:custGeom>
            <a:blipFill>
              <a:blip r:embed="rId2"/>
              <a:stretch>
                <a:fillRect t="-815" b="-81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16022" y="236702"/>
            <a:ext cx="5047601" cy="1296105"/>
            <a:chOff x="0" y="38100"/>
            <a:chExt cx="11933340" cy="1935323"/>
          </a:xfrm>
        </p:grpSpPr>
        <p:sp>
          <p:nvSpPr>
            <p:cNvPr id="8" name="TextBox 8"/>
            <p:cNvSpPr txBox="1"/>
            <p:nvPr/>
          </p:nvSpPr>
          <p:spPr>
            <a:xfrm>
              <a:off x="0" y="1118488"/>
              <a:ext cx="11933340" cy="854935"/>
            </a:xfrm>
            <a:prstGeom prst="rect">
              <a:avLst/>
            </a:prstGeom>
            <a:solidFill>
              <a:srgbClr val="002060"/>
            </a:solidFill>
          </p:spPr>
          <p:txBody>
            <a:bodyPr lIns="0" tIns="0" rIns="0" bIns="0" rtlCol="0" anchor="t">
              <a:spAutoFit/>
            </a:bodyPr>
            <a:lstStyle/>
            <a:p>
              <a:pPr defTabSz="457200">
                <a:lnSpc>
                  <a:spcPts val="2518"/>
                </a:lnSpc>
              </a:pPr>
              <a:r>
                <a:rPr lang="en-US" sz="24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lear Sans"/>
                  <a:sym typeface="Clear Sans"/>
                </a:rPr>
                <a:t>Building Your First Scientific Script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1933340" cy="910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457200">
                <a:lnSpc>
                  <a:spcPts val="2610"/>
                </a:lnSpc>
              </a:pPr>
              <a:r>
                <a:rPr lang="en-US" sz="2400" b="1" dirty="0">
                  <a:solidFill>
                    <a:schemeClr val="tx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Hammersmith One"/>
                  <a:sym typeface="Hammersmith One"/>
                </a:rPr>
                <a:t>Comments &amp; Complete Program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71046" y="1037802"/>
            <a:ext cx="3001521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Comments with # symbol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1046" y="2331311"/>
            <a:ext cx="300152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Store values in variables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1046" y="1257603"/>
            <a:ext cx="3664355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Comments explain your code to humans: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This calculates </a:t>
            </a:r>
            <a:r>
              <a:rPr lang="en-US" sz="1600" dirty="0" err="1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densitymass</a:t>
            </a:r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 in grams, volume in </a:t>
            </a:r>
            <a:r>
              <a:rPr lang="en-US" sz="1600" dirty="0" err="1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mLPython</a:t>
            </a:r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 ignores everything after #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71046" y="2551112"/>
            <a:ext cx="366435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Assign your measurements: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mass = 45.0    # grams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volume = 15.0  # milliliters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density = mass / volume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71046" y="3679761"/>
            <a:ext cx="300152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Print the labeled result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71046" y="3986310"/>
            <a:ext cx="366435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Display your calculation: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print("Density:", density, "g/mL")</a:t>
            </a:r>
          </a:p>
          <a:p>
            <a:pPr defTabSz="457200"/>
            <a:r>
              <a:rPr lang="en-US" sz="1600" dirty="0">
                <a:solidFill>
                  <a:srgbClr val="5E5E5E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Output: Density: 3.0 g/mL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1F9691C0-67AB-DF8D-C077-F4DBD5F857B3}"/>
              </a:ext>
            </a:extLst>
          </p:cNvPr>
          <p:cNvSpPr txBox="1"/>
          <p:nvPr/>
        </p:nvSpPr>
        <p:spPr>
          <a:xfrm>
            <a:off x="261026" y="4872848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914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First complete scientific program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120640" cy="20116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Density of a sample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= 54  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= 20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cm3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mass / volume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print("Density =", density, "g/cm3")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FF"/>
                </a:solidFill>
              </a:rPr>
              <a:t>OUTPUT</a:t>
            </a:r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51206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2.7 g/cm3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 preview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920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mass, volume and density are variables: names that store values.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 will study them formally in the next session.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happens when the program runs?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Python reads the program from top to bottom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Comments (#) are ignored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mass and volume are stored in memory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density = mass / volume is calculated: 2.7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print() displays the result on the screen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COMPUTER MEMORY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1554480"/>
            <a:ext cx="28346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760720" y="2194560"/>
            <a:ext cx="28346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760720" y="2834640"/>
            <a:ext cx="28346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178040" y="3520440"/>
            <a:ext cx="0" cy="2743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760720" y="3840480"/>
            <a:ext cx="2834640" cy="5943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0" y="3840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2.7 g/cm3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2248"/>
            <a:ext cx="4014341" cy="1788919"/>
            <a:chOff x="0" y="0"/>
            <a:chExt cx="2114550" cy="1240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4550" cy="1240789"/>
            </a:xfrm>
            <a:custGeom>
              <a:avLst/>
              <a:gdLst/>
              <a:ahLst/>
              <a:cxnLst/>
              <a:rect l="l" t="t" r="r" b="b"/>
              <a:pathLst>
                <a:path w="2114550" h="1240789">
                  <a:moveTo>
                    <a:pt x="0" y="0"/>
                  </a:moveTo>
                  <a:lnTo>
                    <a:pt x="2114550" y="0"/>
                  </a:lnTo>
                  <a:lnTo>
                    <a:pt x="2114550" y="1240789"/>
                  </a:lnTo>
                  <a:lnTo>
                    <a:pt x="0" y="1240789"/>
                  </a:lnTo>
                  <a:close/>
                </a:path>
              </a:pathLst>
            </a:custGeom>
            <a:solidFill>
              <a:schemeClr val="tx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28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14550" cy="129793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24"/>
                </a:lnSpc>
                <a:spcBef>
                  <a:spcPct val="0"/>
                </a:spcBef>
              </a:pPr>
              <a:endParaRPr sz="110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21892" y="833507"/>
            <a:ext cx="379232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558"/>
              </a:lnSpc>
              <a:spcBef>
                <a:spcPct val="0"/>
              </a:spcBef>
            </a:pPr>
            <a:r>
              <a:rPr lang="en-US" sz="1400" spc="-6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Python reads your program line by line, from top to bottom. Each instruction is processed in sequential order, exactly as you wrote it.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1892" y="2341273"/>
            <a:ext cx="391224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558"/>
              </a:lnSpc>
              <a:spcBef>
                <a:spcPct val="0"/>
              </a:spcBef>
            </a:pPr>
            <a:r>
              <a:rPr lang="en-US" sz="1400" spc="-6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For each line, Python evaluates expressions and performs assignments. Example: mass = 5.2 stores the value, then density = mass/volume calculates the result.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891" y="4199731"/>
            <a:ext cx="37923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558"/>
              </a:lnSpc>
              <a:spcBef>
                <a:spcPct val="0"/>
              </a:spcBef>
            </a:pPr>
            <a:r>
              <a:rPr lang="en-US" sz="1400" spc="-6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Python displays results via print() or reports a </a:t>
            </a:r>
            <a:r>
              <a:rPr lang="en-US" sz="1400" spc="-6" dirty="0" err="1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SyntaxError</a:t>
            </a:r>
            <a:r>
              <a:rPr lang="en-US" sz="1400" spc="-6" dirty="0">
                <a:solidFill>
                  <a:srgbClr val="343434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"/>
                <a:sym typeface="Clear Sans"/>
              </a:rPr>
              <a:t> if something is wrong. Errors stop execution and show the problematic line number.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893" y="832465"/>
            <a:ext cx="325286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24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Hammersmith One"/>
                <a:sym typeface="Hammersmith One"/>
              </a:rPr>
              <a:t>How does Python Executes a Program?</a:t>
            </a:r>
          </a:p>
        </p:txBody>
      </p:sp>
      <p:sp>
        <p:nvSpPr>
          <p:cNvPr id="9" name="AutoShape 9"/>
          <p:cNvSpPr/>
          <p:nvPr/>
        </p:nvSpPr>
        <p:spPr>
          <a:xfrm>
            <a:off x="4658986" y="989895"/>
            <a:ext cx="0" cy="36392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 rot="-5400000">
            <a:off x="4303701" y="782649"/>
            <a:ext cx="705807" cy="169209"/>
            <a:chOff x="0" y="0"/>
            <a:chExt cx="465702" cy="111647"/>
          </a:xfrm>
          <a:solidFill>
            <a:schemeClr val="tx2"/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5702" cy="111647"/>
            </a:xfrm>
            <a:custGeom>
              <a:avLst/>
              <a:gdLst/>
              <a:ahLst/>
              <a:cxnLst/>
              <a:rect l="l" t="t" r="r" b="b"/>
              <a:pathLst>
                <a:path w="465702" h="111647">
                  <a:moveTo>
                    <a:pt x="55823" y="0"/>
                  </a:moveTo>
                  <a:lnTo>
                    <a:pt x="409879" y="0"/>
                  </a:lnTo>
                  <a:cubicBezTo>
                    <a:pt x="440709" y="0"/>
                    <a:pt x="465702" y="24993"/>
                    <a:pt x="465702" y="55823"/>
                  </a:cubicBezTo>
                  <a:lnTo>
                    <a:pt x="465702" y="55823"/>
                  </a:lnTo>
                  <a:cubicBezTo>
                    <a:pt x="465702" y="70629"/>
                    <a:pt x="459821" y="84828"/>
                    <a:pt x="449352" y="95296"/>
                  </a:cubicBezTo>
                  <a:cubicBezTo>
                    <a:pt x="438883" y="105765"/>
                    <a:pt x="424684" y="111647"/>
                    <a:pt x="409879" y="111647"/>
                  </a:cubicBezTo>
                  <a:lnTo>
                    <a:pt x="55823" y="111647"/>
                  </a:lnTo>
                  <a:cubicBezTo>
                    <a:pt x="24993" y="111647"/>
                    <a:pt x="0" y="86654"/>
                    <a:pt x="0" y="55823"/>
                  </a:cubicBezTo>
                  <a:lnTo>
                    <a:pt x="0" y="55823"/>
                  </a:lnTo>
                  <a:cubicBezTo>
                    <a:pt x="0" y="24993"/>
                    <a:pt x="24993" y="0"/>
                    <a:pt x="55823" y="0"/>
                  </a:cubicBezTo>
                  <a:close/>
                </a:path>
              </a:pathLst>
            </a:custGeom>
            <a:grpFill/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65702" cy="168797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24"/>
                </a:lnSpc>
              </a:pPr>
              <a:endParaRPr sz="9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4303701" y="2300965"/>
            <a:ext cx="705807" cy="169209"/>
            <a:chOff x="0" y="0"/>
            <a:chExt cx="465702" cy="111647"/>
          </a:xfrm>
          <a:solidFill>
            <a:schemeClr val="tx2"/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5702" cy="111647"/>
            </a:xfrm>
            <a:custGeom>
              <a:avLst/>
              <a:gdLst/>
              <a:ahLst/>
              <a:cxnLst/>
              <a:rect l="l" t="t" r="r" b="b"/>
              <a:pathLst>
                <a:path w="465702" h="111647">
                  <a:moveTo>
                    <a:pt x="55823" y="0"/>
                  </a:moveTo>
                  <a:lnTo>
                    <a:pt x="409879" y="0"/>
                  </a:lnTo>
                  <a:cubicBezTo>
                    <a:pt x="440709" y="0"/>
                    <a:pt x="465702" y="24993"/>
                    <a:pt x="465702" y="55823"/>
                  </a:cubicBezTo>
                  <a:lnTo>
                    <a:pt x="465702" y="55823"/>
                  </a:lnTo>
                  <a:cubicBezTo>
                    <a:pt x="465702" y="70629"/>
                    <a:pt x="459821" y="84828"/>
                    <a:pt x="449352" y="95296"/>
                  </a:cubicBezTo>
                  <a:cubicBezTo>
                    <a:pt x="438883" y="105765"/>
                    <a:pt x="424684" y="111647"/>
                    <a:pt x="409879" y="111647"/>
                  </a:cubicBezTo>
                  <a:lnTo>
                    <a:pt x="55823" y="111647"/>
                  </a:lnTo>
                  <a:cubicBezTo>
                    <a:pt x="24993" y="111647"/>
                    <a:pt x="0" y="86654"/>
                    <a:pt x="0" y="55823"/>
                  </a:cubicBezTo>
                  <a:lnTo>
                    <a:pt x="0" y="55823"/>
                  </a:lnTo>
                  <a:cubicBezTo>
                    <a:pt x="0" y="24993"/>
                    <a:pt x="24993" y="0"/>
                    <a:pt x="55823" y="0"/>
                  </a:cubicBezTo>
                  <a:close/>
                </a:path>
              </a:pathLst>
            </a:custGeom>
            <a:grpFill/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465702" cy="168797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24"/>
                </a:lnSpc>
              </a:pPr>
              <a:endParaRPr sz="9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4303701" y="3821159"/>
            <a:ext cx="705807" cy="169209"/>
            <a:chOff x="0" y="0"/>
            <a:chExt cx="465702" cy="111647"/>
          </a:xfrm>
          <a:solidFill>
            <a:schemeClr val="tx2"/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5702" cy="111647"/>
            </a:xfrm>
            <a:custGeom>
              <a:avLst/>
              <a:gdLst/>
              <a:ahLst/>
              <a:cxnLst/>
              <a:rect l="l" t="t" r="r" b="b"/>
              <a:pathLst>
                <a:path w="465702" h="111647">
                  <a:moveTo>
                    <a:pt x="55823" y="0"/>
                  </a:moveTo>
                  <a:lnTo>
                    <a:pt x="409879" y="0"/>
                  </a:lnTo>
                  <a:cubicBezTo>
                    <a:pt x="440709" y="0"/>
                    <a:pt x="465702" y="24993"/>
                    <a:pt x="465702" y="55823"/>
                  </a:cubicBezTo>
                  <a:lnTo>
                    <a:pt x="465702" y="55823"/>
                  </a:lnTo>
                  <a:cubicBezTo>
                    <a:pt x="465702" y="70629"/>
                    <a:pt x="459821" y="84828"/>
                    <a:pt x="449352" y="95296"/>
                  </a:cubicBezTo>
                  <a:cubicBezTo>
                    <a:pt x="438883" y="105765"/>
                    <a:pt x="424684" y="111647"/>
                    <a:pt x="409879" y="111647"/>
                  </a:cubicBezTo>
                  <a:lnTo>
                    <a:pt x="55823" y="111647"/>
                  </a:lnTo>
                  <a:cubicBezTo>
                    <a:pt x="24993" y="111647"/>
                    <a:pt x="0" y="86654"/>
                    <a:pt x="0" y="55823"/>
                  </a:cubicBezTo>
                  <a:lnTo>
                    <a:pt x="0" y="55823"/>
                  </a:lnTo>
                  <a:cubicBezTo>
                    <a:pt x="0" y="24993"/>
                    <a:pt x="24993" y="0"/>
                    <a:pt x="55823" y="0"/>
                  </a:cubicBezTo>
                  <a:close/>
                </a:path>
              </a:pathLst>
            </a:custGeom>
            <a:grpFill/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465702" cy="168797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24"/>
                </a:lnSpc>
              </a:pPr>
              <a:endParaRPr sz="9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21892" y="533400"/>
            <a:ext cx="2036738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547"/>
              </a:lnSpc>
            </a:pPr>
            <a:r>
              <a:rPr lang="en-US" sz="14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STEP 1: READ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1892" y="2041167"/>
            <a:ext cx="2036738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ts val="1547"/>
              </a:lnSpc>
            </a:pPr>
            <a:r>
              <a:rPr lang="en-US" sz="14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STEP 2: EVALUATE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1890" y="3854545"/>
            <a:ext cx="3450399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1547"/>
              </a:lnSpc>
            </a:pPr>
            <a:r>
              <a:rPr lang="en-US" sz="1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lear Sans Medium"/>
                <a:sym typeface="Clear Sans Medium"/>
              </a:rPr>
              <a:t>STEP 3: OUTPUT OR ERROR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2205934"/>
            <a:ext cx="4014341" cy="2459723"/>
            <a:chOff x="0" y="0"/>
            <a:chExt cx="1243853" cy="8638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43853" cy="863850"/>
            </a:xfrm>
            <a:custGeom>
              <a:avLst/>
              <a:gdLst/>
              <a:ahLst/>
              <a:cxnLst/>
              <a:rect l="l" t="t" r="r" b="b"/>
              <a:pathLst>
                <a:path w="1243853" h="863850">
                  <a:moveTo>
                    <a:pt x="0" y="0"/>
                  </a:moveTo>
                  <a:lnTo>
                    <a:pt x="1243853" y="0"/>
                  </a:lnTo>
                  <a:lnTo>
                    <a:pt x="1243853" y="863850"/>
                  </a:lnTo>
                  <a:lnTo>
                    <a:pt x="0" y="863850"/>
                  </a:lnTo>
                  <a:close/>
                </a:path>
              </a:pathLst>
            </a:custGeom>
            <a:blipFill>
              <a:blip r:embed="rId2"/>
              <a:stretch>
                <a:fillRect t="-486" b="-486"/>
              </a:stretch>
            </a:blipFill>
          </p:spPr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DC0EDD16-815E-AFE0-962B-9D3D9C502F20}"/>
              </a:ext>
            </a:extLst>
          </p:cNvPr>
          <p:cNvSpPr txBox="1"/>
          <p:nvPr/>
        </p:nvSpPr>
        <p:spPr>
          <a:xfrm>
            <a:off x="164893" y="4942097"/>
            <a:ext cx="2146900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/>
              <a:t>Informatique 1 — L1 Sciences de la Matière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Syntax errors are normal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ERROR MESSAGE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4572000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517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unterminated string literal (detected at line 1)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closing quote is missing.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Read the message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77840" y="2194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Go to the line it points to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577840" y="3108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Fix it and run again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3840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Errors are part of learning — even experienced programmers see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Common beginner errors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Missing closing quote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    print("Hello)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Correct:  print("Hello")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23444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Missing parenthesis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    print("Hello"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Correct:  print("Hello")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Wrong capital letter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    Print("Hello")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Correct:  print("Hello")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54880" y="269748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x instead of *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Wrong:    2 x 3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Correct:  2 * 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Always read the last line of the error message first.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Mini student challenge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75488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A runner covers 150 m in 12 s. Write a Python program that displays the average speed.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Model: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v = d / t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Use a comment, two values, the calculation and print().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554480"/>
            <a:ext cx="301752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12.5 m/s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77840" y="2926080"/>
            <a:ext cx="301752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2926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minutes — work alone, then compare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Summary and what comes next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Python: a readable language for science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The interpreter runs your instructions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IDLE: Shell and Editor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print(), calculations and comments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Errors are normal — read the message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0" y="128016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150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NEXT SESSION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Variables and Basic Data Types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28346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What is a variable?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How does Python store a value?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Is 2.7 the same as "2.7"?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s Matiere">
  <a:themeElements>
    <a:clrScheme name="Sciences Matiere">
      <a:dk1>
        <a:srgbClr val="1B2A3A"/>
      </a:dk1>
      <a:lt1>
        <a:srgbClr val="FFFFFF"/>
      </a:lt1>
      <a:dk2>
        <a:srgbClr val="12355B"/>
      </a:dk2>
      <a:lt2>
        <a:srgbClr val="EEF3F7"/>
      </a:lt2>
      <a:accent1>
        <a:srgbClr val="1B998B"/>
      </a:accent1>
      <a:accent2>
        <a:srgbClr val="D9731A"/>
      </a:accent2>
      <a:accent3>
        <a:srgbClr val="3A6EA5"/>
      </a:accent3>
      <a:accent4>
        <a:srgbClr val="B83A3A"/>
      </a:accent4>
      <a:accent5>
        <a:srgbClr val="5C6B7A"/>
      </a:accent5>
      <a:accent6>
        <a:srgbClr val="0F1B2D"/>
      </a:accent6>
      <a:hlink>
        <a:srgbClr val="3A6EA5"/>
      </a:hlink>
      <a:folHlink>
        <a:srgbClr val="5C6B7A"/>
      </a:folHlink>
    </a:clrScheme>
    <a:fontScheme name="Sciences Matie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2399</Words>
  <Application>Microsoft Office PowerPoint</Application>
  <PresentationFormat>On-screen Show (16:9)</PresentationFormat>
  <Paragraphs>376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</vt:lpstr>
      <vt:lpstr>Clear Sans</vt:lpstr>
      <vt:lpstr>Courier New</vt:lpstr>
      <vt:lpstr>Hammersmith One</vt:lpstr>
      <vt:lpstr>Sciences Matiere</vt:lpstr>
      <vt:lpstr>Office Theme</vt:lpstr>
      <vt:lpstr>Getting Started with Python</vt:lpstr>
      <vt:lpstr>From a problem to a Python program</vt:lpstr>
      <vt:lpstr>Learning objectives</vt:lpstr>
      <vt:lpstr>What is Python?</vt:lpstr>
      <vt:lpstr>Why Python in science?</vt:lpstr>
      <vt:lpstr>PowerPoint Presentation</vt:lpstr>
      <vt:lpstr>PowerPoint Presentation</vt:lpstr>
      <vt:lpstr>From student to computer</vt:lpstr>
      <vt:lpstr>PowerPoint Presentation</vt:lpstr>
      <vt:lpstr>Introduction to IDLE</vt:lpstr>
      <vt:lpstr>Interactive mode vs script mode</vt:lpstr>
      <vt:lpstr>First Python calculations</vt:lpstr>
      <vt:lpstr>PowerPoint Presentation</vt:lpstr>
      <vt:lpstr>The print() function</vt:lpstr>
      <vt:lpstr>Understanding print()</vt:lpstr>
      <vt:lpstr>Scientific example: calculating density</vt:lpstr>
      <vt:lpstr>Text versus calculation in Python</vt:lpstr>
      <vt:lpstr>Comments</vt:lpstr>
      <vt:lpstr>PowerPoint Presentation</vt:lpstr>
      <vt:lpstr>First complete scientific program</vt:lpstr>
      <vt:lpstr>What happens when the program runs?</vt:lpstr>
      <vt:lpstr>PowerPoint Presentation</vt:lpstr>
      <vt:lpstr>Syntax errors are normal</vt:lpstr>
      <vt:lpstr>Common beginner errors</vt:lpstr>
      <vt:lpstr>Mini student challenge</vt:lpstr>
      <vt:lpstr>Summary and what comes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Python</dc:title>
  <dc:subject>PptxGenJS Presentation</dc:subject>
  <dc:creator>PptxGenJS</dc:creator>
  <cp:lastModifiedBy>FARIDA LARIT</cp:lastModifiedBy>
  <cp:revision>12</cp:revision>
  <dcterms:created xsi:type="dcterms:W3CDTF">2026-10-06T09:44:15Z</dcterms:created>
  <dcterms:modified xsi:type="dcterms:W3CDTF">2026-10-08T10:04:08Z</dcterms:modified>
</cp:coreProperties>
</file>